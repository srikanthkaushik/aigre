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start, one framing note that matters for how you read every slide after this. This is forward-looking design work, not a status report. Nothing in this deck is built. What it is, is a phased architecture roadmap for the next stage of adoption, and it's grounded in the current codebase — every claim about what exists today was checked directly against the code rather than remembered. The companion document is the multi-agency roadmap in the docs folder, which has the detail behind each of these slides. The subject is onboarding new agencies, and it splits into two very different stories: greenfield, where an agency takes the whole application, and brownfield, where an agency already has a case-management system they're not replacing.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distinction the entire roadmap hangs on, so I want to land it before anything else. AIGRE today is single-agency by construction — one city, six departments it owns outright, one database it is the sole writer to. That was the right call for the MVP and it is exactly what real adoption breaks. Because real adoption is not one story, it's two. Model A, full adoption: a new city or county wants the whole application — portal, dashboard, storage, the human-review workflow, all of it. AIGRE owns routing end to end. Model B, brownfield: an agency already has its own case-management system that they are not replacing, and what they want from us is only the AI — classification and prioritization. Routing is explicitly skipped, because their system does it. These are genuinely different architectures. They are not one multi-tenant checkbox with two settings, and if we treat them as one we will build something that serves neither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reality check on what's hardcoded today, and I want to be clear this is not a criticism of the build — it's the starting point, and all of it was checked directly against the code. There is no tenant or agency concept anywhere: department codes are globally unique, so two agencies that both want a department called DPW would collide today. The department taxonomy is hardcoded in three separate places — the database seed data, a frontend constant, and the biggest one, baked directly into the AI classification prompt as literal text. That third one is why 'make the taxonomy configurable' is a real piece of work and not a config file. Policy-document search has zero isolation — as it stands, nothing stops one agency's chatbot from citing another agency's policies, and that has to be fixed before a second agency exists. But here is the good news buried in this slide: the AI classifier itself is already a clean, stateless function with no database dependency at all. What's tightly coupled is the persistence layer around it, not the AI. Hold onto that, because it's the reason brownfield is more achievable than it sounds — I'll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stakeholders ask first: how does AIGRE look up this agency's records? Two different problems, two different answers. For full-adoption agencies it's straightforward — the dashboard already filters every query by department, derived from who is logged in and never trusted from the client. Adding agency is one more filter dimension on a pattern that already exists and already works. Brownfield is the interesting one, and the answer here changed. AIGRE reaches out, live, during classification — this is not a passive handoff where the agency has to package up context in advance. AIGRE already runs an MCP server exposing its own data as callable tools, so the natural next step is becoming an MCP client as well, calling the agency's own tools mid-classification to pull in live, agency-specific records. Two cases. If the agency has an MCP server, AIGRE connects directly as a client — nothing bespoke to build. If they only have a legacy REST API, AIGRE hosts a reusable adapter that wraps it as MCP tools, and what varies per agency is configuration, not code. Every agency-facing tool defaults to read-only. That's the principle to hold onto: one reusable adapter pattern to build, not N bespoke connectors per legacy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phases, in dependency order, and not every agency needs all five. Phase one is the multi-agency data foundation — the schema and auth changes both models depend on. Phase two makes classification agency-configurable: taxonomy, priority rubric, and policy search all become per-agency. Those two are shared infrastructure; everything after forks. Phase three is full onboarding for Model A — provisioning, seeding, per-agency branding. Phase four is classification-as-a-service with live tool-calling for Model B, where classification can call out to an agency's own MCP tools mid-inference. Phase five is the reusable API-to-MCP adapter, for agencies without native MCP support — and I want to be precise about the relationship there: five is a natural follow-on to four, not a separate feature. An agency that already has its own MCP server is fully served by phase four alone; phase five is what stops phase four from being limited to agencies who already speak the protocol. As before, this ordering is a recommendation rather than a rigid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Phases one and two: what both models need before either can ship. An agencies table, with agency scoping added to departments, employees, citizens, and every grievance record. Login and access control extended with an agency dimension, layered on top of the department-scoping logic that already exists. The department dropdown becomes a live API call instead of a hardcoded list. The AI classifier's prompt becomes templated per agency, instead of one hardcoded taxonomy baked into the text — that's the third of the three hardcoded places I flagged earlier, and it's the substantial one. And policy-document search gets real isolation, so an agency's chatbot only ever cites that agency's own documents. The thing to emphasize here: all of this is additive to an existing, well-factored pattern. The department-scoping logic already works exactly this way for one dimension — we are adding a second dimension to a working design, not rewriting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Phases three and four are where the two models reach genuinely different end states. Model A, full onboarding: self-service or admin-assisted — create the agency, seed its departments, set SLA targets, load the policy corpus, create the first admin account. Per-agency branding reuses the same two-seed-color theme generation we already built for AIGRE's own look, so that's close to free. Model B is classification-as-a-service with live tool-calling, and this is the slide that most directly reflects the correction from 'AIGRE waits for context' to 'AIGRE reaches out' — worth pausing on, because it changes what brownfield integration actually means here. It's a new, separate API, deliberately not a flag on the existing endpoints, because those are built to persist every request. Authentication is system-to-system with API keys, not employee login. And the substantive part: the classifier can call the agency's own tools mid-inference — for example, check for open cases at this address — before finalizing its result. That means the classification is grounded in the agency's live data, not just the text they submitted. It returns the classification, and optionally which agency tools were consulted, for audit purposes. It still deliberately excludes the review workflow and the dashboard — the agency's own system owns those. But note the one exclusion that lifted: duplicate detection is no longer a blanket exclusion, it's delegated to an agency tool when one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on scope discipline, stated up front so it doesn't have to be defended later. No write-capable tools by default: every agency-facing tool starts read-only, and write access would have to be explicitly negotiated per agency. Given we're now calling into live agency systems, that default matters more than it would have under the old passive-handoff design. No self-service configuration UI for the phase-five adapter yet — the wrapping mechanism is designed, the tooling to configure it is not. We are not building database-per-tenant infrastructure until an actual compliance requirement demands it; adding it speculatively costs operational complexity forever in exchange for nothing today. And to be completely clear about status: no schema changes, no provisioning UI, no API-key authentication, and no MCP client wiring has been started. This is a design reference, ready to scope into real work when the demand is real. This slide exists to pre-empt the question 'why doesn't it do X yet' — the answer is that this is a deliberately scoped roadmap, not a backlog of everything imaginable. What I'd like from this session is agreement on the two-model framing and the phase ordering, because everything else follows from those.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5203388" y="754261"/>
            <a:ext cx="2135773" cy="198090"/>
          </a:xfrm>
          <a:prstGeom prst="rect">
            <a:avLst/>
          </a:prstGeom>
          <a:noFill/>
          <a:ln/>
        </p:spPr>
        <p:txBody>
          <a:bodyPr wrap="square" lIns="25400" tIns="25400" rIns="25400" bIns="25400" rtlCol="0" anchor="t">
            <a:normAutofit/>
          </a:bodyPr>
          <a:lstStyle/>
          <a:p>
            <a:pPr algn="l" indent="0" marL="0">
              <a:lnSpc>
                <a:spcPct val="132857"/>
              </a:lnSpc>
              <a:buNone/>
            </a:pPr>
            <a:r>
              <a:rPr lang="en-US" sz="1800" b="1" spc="144" kern="0" dirty="0">
                <a:solidFill>
                  <a:srgbClr val="5980A6"/>
                </a:solidFill>
                <a:latin typeface="Arial" pitchFamily="34" charset="0"/>
                <a:ea typeface="Arial" pitchFamily="34" charset="-122"/>
                <a:cs typeface="Arial" pitchFamily="34" charset="-120"/>
              </a:rPr>
              <a:t>GOVTECH · ROADMAP</a:t>
            </a:r>
            <a:endParaRPr lang="en-US" sz="1800" dirty="0"/>
          </a:p>
        </p:txBody>
      </p:sp>
      <p:sp>
        <p:nvSpPr>
          <p:cNvPr id="4" name="Text 2"/>
          <p:cNvSpPr/>
          <p:nvPr/>
        </p:nvSpPr>
        <p:spPr>
          <a:xfrm>
            <a:off x="1000423" y="3794671"/>
            <a:ext cx="17759035" cy="1958280"/>
          </a:xfrm>
          <a:prstGeom prst="rect">
            <a:avLst/>
          </a:prstGeom>
          <a:noFill/>
          <a:ln/>
        </p:spPr>
        <p:txBody>
          <a:bodyPr wrap="square" lIns="25400" tIns="25400" rIns="25400" bIns="25400" rtlCol="0" anchor="t">
            <a:normAutofit/>
          </a:bodyPr>
          <a:lstStyle/>
          <a:p>
            <a:pPr algn="l" indent="0" marL="0">
              <a:lnSpc>
                <a:spcPct val="87009"/>
              </a:lnSpc>
              <a:buNone/>
            </a:pPr>
            <a:r>
              <a:rPr lang="en-US" sz="21600" b="1" dirty="0">
                <a:solidFill>
                  <a:srgbClr val="1D1F20"/>
                </a:solidFill>
                <a:latin typeface="Arial" pitchFamily="34" charset="0"/>
                <a:ea typeface="Arial" pitchFamily="34" charset="-122"/>
                <a:cs typeface="Arial" pitchFamily="34" charset="-120"/>
              </a:rPr>
              <a:t>Future state</a:t>
            </a:r>
            <a:endParaRPr lang="en-US" sz="21600" dirty="0"/>
          </a:p>
        </p:txBody>
      </p:sp>
      <p:sp>
        <p:nvSpPr>
          <p:cNvPr id="5" name="Text 3"/>
          <p:cNvSpPr/>
          <p:nvPr/>
        </p:nvSpPr>
        <p:spPr>
          <a:xfrm>
            <a:off x="1143000" y="6442621"/>
            <a:ext cx="3531870" cy="113913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1D1F21">
                    <a:alpha val="55000"/>
                  </a:srgbClr>
                </a:solidFill>
                <a:latin typeface="Arial" pitchFamily="34" charset="0"/>
                <a:ea typeface="Arial" pitchFamily="34" charset="-122"/>
                <a:cs typeface="Arial" pitchFamily="34" charset="-120"/>
              </a:rPr>
              <a:t>AIGRE — onboarding new agencies: greenfield and brownfield.</a:t>
            </a:r>
            <a:endParaRPr lang="en-US" sz="2100" dirty="0"/>
          </a:p>
        </p:txBody>
      </p:sp>
      <p:sp>
        <p:nvSpPr>
          <p:cNvPr id="6" name="Text 4"/>
          <p:cNvSpPr/>
          <p:nvPr/>
        </p:nvSpPr>
        <p:spPr>
          <a:xfrm>
            <a:off x="5257800" y="6442621"/>
            <a:ext cx="8005572" cy="113913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1D1F21">
                    <a:alpha val="55000"/>
                  </a:srgbClr>
                </a:solidFill>
                <a:latin typeface="Arial" pitchFamily="34" charset="0"/>
                <a:ea typeface="Arial" pitchFamily="34" charset="-122"/>
                <a:cs typeface="Arial" pitchFamily="34" charset="-120"/>
              </a:rPr>
              <a:t>Not built. A phased architecture roadmap for the next stage of adoption, grounded in the current codebase. Companion document: </a:t>
            </a:r>
            <a:pPr algn="l" indent="0" marL="0">
              <a:lnSpc>
                <a:spcPct val="150000"/>
              </a:lnSpc>
              <a:buNone/>
            </a:pPr>
            <a:r>
              <a:rPr lang="en-US" sz="2100" dirty="0">
                <a:solidFill>
                  <a:srgbClr val="1D1F21">
                    <a:alpha val="55000"/>
                  </a:srgbClr>
                </a:solidFill>
                <a:latin typeface="Courier New" pitchFamily="34" charset="0"/>
                <a:ea typeface="Courier New" pitchFamily="34" charset="-122"/>
                <a:cs typeface="Courier New" pitchFamily="34" charset="-120"/>
              </a:rPr>
              <a:t>docs/FUTURE_MULTI_AGENCY_ROADMAP.md</a:t>
            </a:r>
            <a:pPr algn="l" indent="0" marL="0">
              <a:lnSpc>
                <a:spcPct val="150000"/>
              </a:lnSpc>
              <a:buNone/>
            </a:pPr>
            <a:r>
              <a:rPr lang="en-US" sz="2100" dirty="0">
                <a:solidFill>
                  <a:srgbClr val="1D1F21">
                    <a:alpha val="55000"/>
                  </a:srgbClr>
                </a:solidFill>
                <a:latin typeface="Arial" pitchFamily="34" charset="0"/>
                <a:ea typeface="Arial" pitchFamily="34" charset="-122"/>
                <a:cs typeface="Arial" pitchFamily="34" charset="-120"/>
              </a:rPr>
              <a:t>.</a:t>
            </a:r>
            <a:endParaRPr lang="en-US" sz="2100" dirty="0"/>
          </a:p>
        </p:txBody>
      </p:sp>
      <p:sp>
        <p:nvSpPr>
          <p:cNvPr id="7" name="Text 5"/>
          <p:cNvSpPr/>
          <p:nvPr/>
        </p:nvSpPr>
        <p:spPr>
          <a:xfrm>
            <a:off x="1143000" y="8755410"/>
            <a:ext cx="1849115" cy="198090"/>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1D1F21">
                    <a:alpha val="55000"/>
                  </a:srgbClr>
                </a:solidFill>
                <a:latin typeface="Arial" pitchFamily="34" charset="0"/>
                <a:ea typeface="Arial" pitchFamily="34" charset="-122"/>
                <a:cs typeface="Arial" pitchFamily="34" charset="-120"/>
              </a:rPr>
              <a:t>Design reference</a:t>
            </a:r>
            <a:endParaRPr lang="en-US" sz="1800" dirty="0"/>
          </a:p>
        </p:txBody>
      </p:sp>
      <p:sp>
        <p:nvSpPr>
          <p:cNvPr id="8" name="Text 6"/>
          <p:cNvSpPr/>
          <p:nvPr/>
        </p:nvSpPr>
        <p:spPr>
          <a:xfrm>
            <a:off x="2995464" y="8755410"/>
            <a:ext cx="124271" cy="198090"/>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1D1F21">
                    <a:alpha val="55000"/>
                  </a:srgbClr>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3214985" y="8755410"/>
            <a:ext cx="1360438" cy="198090"/>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1D1F21">
                    <a:alpha val="55000"/>
                  </a:srgbClr>
                </a:solidFill>
                <a:latin typeface="Arial" pitchFamily="34" charset="0"/>
                <a:ea typeface="Arial" pitchFamily="34" charset="-122"/>
                <a:cs typeface="Arial" pitchFamily="34" charset="-120"/>
              </a:rPr>
              <a:t>August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261"/>
            <a:ext cx="1921312" cy="198090"/>
          </a:xfrm>
          <a:prstGeom prst="rect">
            <a:avLst/>
          </a:prstGeom>
          <a:noFill/>
          <a:ln/>
        </p:spPr>
        <p:txBody>
          <a:bodyPr wrap="square" lIns="25400" tIns="25400" rIns="25400" bIns="25400" rtlCol="0" anchor="t">
            <a:normAutofit/>
          </a:bodyPr>
          <a:lstStyle/>
          <a:p>
            <a:pPr algn="l" indent="0" marL="0">
              <a:lnSpc>
                <a:spcPct val="132857"/>
              </a:lnSpc>
              <a:buNone/>
            </a:pPr>
            <a:r>
              <a:rPr lang="en-US" sz="1800" b="1" spc="144" kern="0" dirty="0">
                <a:solidFill>
                  <a:srgbClr val="5980A6"/>
                </a:solidFill>
                <a:latin typeface="Arial" pitchFamily="34" charset="0"/>
                <a:ea typeface="Arial" pitchFamily="34" charset="-122"/>
                <a:cs typeface="Arial" pitchFamily="34" charset="-120"/>
              </a:rPr>
              <a:t>01 · THE PROBLEM</a:t>
            </a:r>
            <a:endParaRPr lang="en-US" sz="1800" dirty="0"/>
          </a:p>
        </p:txBody>
      </p:sp>
      <p:sp>
        <p:nvSpPr>
          <p:cNvPr id="4" name="Text 2"/>
          <p:cNvSpPr/>
          <p:nvPr/>
        </p:nvSpPr>
        <p:spPr>
          <a:xfrm>
            <a:off x="1095524" y="1646039"/>
            <a:ext cx="17654424" cy="678210"/>
          </a:xfrm>
          <a:prstGeom prst="rect">
            <a:avLst/>
          </a:prstGeom>
          <a:noFill/>
          <a:ln/>
        </p:spPr>
        <p:txBody>
          <a:bodyPr wrap="square" lIns="25400" tIns="25400" rIns="25400" bIns="25400" rtlCol="0" anchor="t">
            <a:normAutofit/>
          </a:bodyPr>
          <a:lstStyle/>
          <a:p>
            <a:pPr algn="l" indent="0" marL="0">
              <a:lnSpc>
                <a:spcPct val="87273"/>
              </a:lnSpc>
              <a:buNone/>
            </a:pPr>
            <a:r>
              <a:rPr lang="en-US" sz="7200" b="1" dirty="0">
                <a:solidFill>
                  <a:srgbClr val="1D1F20"/>
                </a:solidFill>
                <a:latin typeface="Arial" pitchFamily="34" charset="0"/>
                <a:ea typeface="Arial" pitchFamily="34" charset="-122"/>
                <a:cs typeface="Arial" pitchFamily="34" charset="-120"/>
              </a:rPr>
              <a:t>One size doesn’t fit all</a:t>
            </a:r>
            <a:endParaRPr lang="en-US" sz="7200" dirty="0"/>
          </a:p>
        </p:txBody>
      </p:sp>
      <p:sp>
        <p:nvSpPr>
          <p:cNvPr id="5" name="Text 3"/>
          <p:cNvSpPr/>
          <p:nvPr/>
        </p:nvSpPr>
        <p:spPr>
          <a:xfrm>
            <a:off x="1143000" y="2514749"/>
            <a:ext cx="4009644" cy="952500"/>
          </a:xfrm>
          <a:prstGeom prst="rect">
            <a:avLst/>
          </a:prstGeom>
          <a:noFill/>
          <a:ln/>
        </p:spPr>
        <p:txBody>
          <a:bodyPr wrap="square" lIns="25400" tIns="25400" rIns="25400" bIns="25400" rtlCol="0" anchor="b">
            <a:normAutofit/>
          </a:bodyPr>
          <a:lstStyle/>
          <a:p>
            <a:pPr algn="l" indent="0" marL="0">
              <a:lnSpc>
                <a:spcPct val="132857"/>
              </a:lnSpc>
              <a:buNone/>
            </a:pPr>
            <a:r>
              <a:rPr lang="en-US" sz="1800" spc="144" kern="0" dirty="0">
                <a:solidFill>
                  <a:srgbClr val="1C2020">
                    <a:alpha val="60000"/>
                  </a:srgbClr>
                </a:solidFill>
                <a:latin typeface="Arial" pitchFamily="34" charset="0"/>
                <a:ea typeface="Arial" pitchFamily="34" charset="-122"/>
                <a:cs typeface="Arial" pitchFamily="34" charset="-120"/>
              </a:rPr>
              <a:t>DIMENSION</a:t>
            </a:r>
            <a:endParaRPr lang="en-US" sz="1800" dirty="0"/>
          </a:p>
        </p:txBody>
      </p:sp>
      <p:sp>
        <p:nvSpPr>
          <p:cNvPr id="6" name="Text 4"/>
          <p:cNvSpPr/>
          <p:nvPr/>
        </p:nvSpPr>
        <p:spPr>
          <a:xfrm>
            <a:off x="5257800" y="2514749"/>
            <a:ext cx="4009644" cy="952500"/>
          </a:xfrm>
          <a:prstGeom prst="rect">
            <a:avLst/>
          </a:prstGeom>
          <a:noFill/>
          <a:ln/>
        </p:spPr>
        <p:txBody>
          <a:bodyPr wrap="square" lIns="25400" tIns="25400" rIns="25400" bIns="25400" rtlCol="0" anchor="b">
            <a:normAutofit/>
          </a:bodyPr>
          <a:lstStyle/>
          <a:p>
            <a:pPr algn="l" indent="0" marL="0">
              <a:lnSpc>
                <a:spcPct val="132857"/>
              </a:lnSpc>
              <a:buNone/>
            </a:pPr>
            <a:r>
              <a:rPr lang="en-US" sz="1800" spc="144" kern="0" dirty="0">
                <a:solidFill>
                  <a:srgbClr val="1C2020">
                    <a:alpha val="60000"/>
                  </a:srgbClr>
                </a:solidFill>
                <a:latin typeface="Arial" pitchFamily="34" charset="0"/>
                <a:ea typeface="Arial" pitchFamily="34" charset="-122"/>
                <a:cs typeface="Arial" pitchFamily="34" charset="-120"/>
              </a:rPr>
              <a:t>MODEL A — FULL ADOPTION</a:t>
            </a:r>
            <a:endParaRPr lang="en-US" sz="1800" dirty="0"/>
          </a:p>
        </p:txBody>
      </p:sp>
      <p:sp>
        <p:nvSpPr>
          <p:cNvPr id="7" name="Text 5"/>
          <p:cNvSpPr/>
          <p:nvPr/>
        </p:nvSpPr>
        <p:spPr>
          <a:xfrm>
            <a:off x="9372600" y="2514749"/>
            <a:ext cx="4009644" cy="952500"/>
          </a:xfrm>
          <a:prstGeom prst="rect">
            <a:avLst/>
          </a:prstGeom>
          <a:noFill/>
          <a:ln/>
        </p:spPr>
        <p:txBody>
          <a:bodyPr wrap="square" lIns="25400" tIns="25400" rIns="25400" bIns="25400" rtlCol="0" anchor="b">
            <a:normAutofit/>
          </a:bodyPr>
          <a:lstStyle/>
          <a:p>
            <a:pPr algn="l" indent="0" marL="0">
              <a:lnSpc>
                <a:spcPct val="132857"/>
              </a:lnSpc>
              <a:buNone/>
            </a:pPr>
            <a:r>
              <a:rPr lang="en-US" sz="1800" spc="144" kern="0" dirty="0">
                <a:solidFill>
                  <a:srgbClr val="1C2020">
                    <a:alpha val="60000"/>
                  </a:srgbClr>
                </a:solidFill>
                <a:latin typeface="Arial" pitchFamily="34" charset="0"/>
                <a:ea typeface="Arial" pitchFamily="34" charset="-122"/>
                <a:cs typeface="Arial" pitchFamily="34" charset="-120"/>
              </a:rPr>
              <a:t>MODEL B — BROWNFIELD</a:t>
            </a:r>
            <a:endParaRPr lang="en-US" sz="1800" dirty="0"/>
          </a:p>
        </p:txBody>
      </p:sp>
      <p:sp>
        <p:nvSpPr>
          <p:cNvPr id="8" name="Text 6"/>
          <p:cNvSpPr/>
          <p:nvPr/>
        </p:nvSpPr>
        <p:spPr>
          <a:xfrm>
            <a:off x="13487400" y="2514749"/>
            <a:ext cx="3767328" cy="952500"/>
          </a:xfrm>
          <a:prstGeom prst="rect">
            <a:avLst/>
          </a:prstGeom>
          <a:noFill/>
          <a:ln/>
        </p:spPr>
        <p:txBody>
          <a:bodyPr wrap="square" lIns="25400" tIns="25400" rIns="25400" bIns="25400" rtlCol="0" anchor="b">
            <a:normAutofit/>
          </a:bodyPr>
          <a:lstStyle/>
          <a:p>
            <a:pPr algn="l" indent="0" marL="0">
              <a:lnSpc>
                <a:spcPct val="132857"/>
              </a:lnSpc>
              <a:buNone/>
            </a:pPr>
            <a:r>
              <a:rPr lang="en-US" sz="1800" spc="144" kern="0" dirty="0">
                <a:solidFill>
                  <a:srgbClr val="1C2020">
                    <a:alpha val="60000"/>
                  </a:srgbClr>
                </a:solidFill>
                <a:latin typeface="Arial" pitchFamily="34" charset="0"/>
                <a:ea typeface="Arial" pitchFamily="34" charset="-122"/>
                <a:cs typeface="Arial" pitchFamily="34" charset="-120"/>
              </a:rPr>
              <a:t>WHY IT MATTERS</a:t>
            </a:r>
            <a:endParaRPr lang="en-US" sz="1800" dirty="0"/>
          </a:p>
        </p:txBody>
      </p:sp>
      <p:sp>
        <p:nvSpPr>
          <p:cNvPr id="9" name="Text 7"/>
          <p:cNvSpPr/>
          <p:nvPr/>
        </p:nvSpPr>
        <p:spPr>
          <a:xfrm>
            <a:off x="1143000" y="3429149"/>
            <a:ext cx="4009644" cy="952500"/>
          </a:xfrm>
          <a:prstGeom prst="rect">
            <a:avLst/>
          </a:prstGeom>
          <a:noFill/>
          <a:ln/>
        </p:spPr>
        <p:txBody>
          <a:bodyPr wrap="square" lIns="25400" tIns="25400" rIns="25400" bIns="25400" rtlCol="0" anchor="b">
            <a:normAutofit/>
          </a:bodyPr>
          <a:lstStyle/>
          <a:p>
            <a:pPr algn="l" indent="0" marL="0">
              <a:lnSpc>
                <a:spcPct val="136212"/>
              </a:lnSpc>
              <a:buNone/>
            </a:pPr>
            <a:r>
              <a:rPr lang="en-US" sz="2175" dirty="0">
                <a:solidFill>
                  <a:srgbClr val="1D1F20"/>
                </a:solidFill>
                <a:latin typeface="Arial" pitchFamily="34" charset="0"/>
                <a:ea typeface="Arial" pitchFamily="34" charset="-122"/>
                <a:cs typeface="Arial" pitchFamily="34" charset="-120"/>
              </a:rPr>
              <a:t>Who</a:t>
            </a:r>
            <a:endParaRPr lang="en-US" sz="2175" dirty="0"/>
          </a:p>
        </p:txBody>
      </p:sp>
      <p:sp>
        <p:nvSpPr>
          <p:cNvPr id="10" name="Text 8"/>
          <p:cNvSpPr/>
          <p:nvPr/>
        </p:nvSpPr>
        <p:spPr>
          <a:xfrm>
            <a:off x="5257800" y="3429149"/>
            <a:ext cx="4009644" cy="952500"/>
          </a:xfrm>
          <a:prstGeom prst="rect">
            <a:avLst/>
          </a:prstGeom>
          <a:noFill/>
          <a:ln/>
        </p:spPr>
        <p:txBody>
          <a:bodyPr wrap="square" lIns="25400" tIns="25400" rIns="25400" bIns="25400" rtlCol="0" anchor="b">
            <a:normAutofit/>
          </a:bodyPr>
          <a:lstStyle/>
          <a:p>
            <a:pPr algn="l" indent="0" marL="0">
              <a:lnSpc>
                <a:spcPct val="136212"/>
              </a:lnSpc>
              <a:buNone/>
            </a:pPr>
            <a:r>
              <a:rPr lang="en-US" sz="2175" dirty="0">
                <a:solidFill>
                  <a:srgbClr val="1D1F20"/>
                </a:solidFill>
                <a:latin typeface="Arial" pitchFamily="34" charset="0"/>
                <a:ea typeface="Arial" pitchFamily="34" charset="-122"/>
                <a:cs typeface="Arial" pitchFamily="34" charset="-120"/>
              </a:rPr>
              <a:t>A new city or county</a:t>
            </a:r>
            <a:endParaRPr lang="en-US" sz="2175" dirty="0"/>
          </a:p>
        </p:txBody>
      </p:sp>
      <p:sp>
        <p:nvSpPr>
          <p:cNvPr id="11" name="Text 9"/>
          <p:cNvSpPr/>
          <p:nvPr/>
        </p:nvSpPr>
        <p:spPr>
          <a:xfrm>
            <a:off x="9372600" y="3429149"/>
            <a:ext cx="4009644" cy="952500"/>
          </a:xfrm>
          <a:prstGeom prst="rect">
            <a:avLst/>
          </a:prstGeom>
          <a:noFill/>
          <a:ln/>
        </p:spPr>
        <p:txBody>
          <a:bodyPr wrap="square" lIns="25400" tIns="25400" rIns="25400" bIns="25400" rtlCol="0" anchor="b">
            <a:normAutofit/>
          </a:bodyPr>
          <a:lstStyle/>
          <a:p>
            <a:pPr algn="l" indent="0" marL="0">
              <a:lnSpc>
                <a:spcPct val="136212"/>
              </a:lnSpc>
              <a:buNone/>
            </a:pPr>
            <a:r>
              <a:rPr lang="en-US" sz="2175" dirty="0">
                <a:solidFill>
                  <a:srgbClr val="1D1F20"/>
                </a:solidFill>
                <a:latin typeface="Arial" pitchFamily="34" charset="0"/>
                <a:ea typeface="Arial" pitchFamily="34" charset="-122"/>
                <a:cs typeface="Arial" pitchFamily="34" charset="-120"/>
              </a:rPr>
              <a:t>An agency with its own system</a:t>
            </a:r>
            <a:endParaRPr lang="en-US" sz="2175" dirty="0"/>
          </a:p>
        </p:txBody>
      </p:sp>
      <p:sp>
        <p:nvSpPr>
          <p:cNvPr id="12" name="Text 10"/>
          <p:cNvSpPr/>
          <p:nvPr/>
        </p:nvSpPr>
        <p:spPr>
          <a:xfrm>
            <a:off x="13487400" y="3429149"/>
            <a:ext cx="3767328" cy="952500"/>
          </a:xfrm>
          <a:prstGeom prst="rect">
            <a:avLst/>
          </a:prstGeom>
          <a:noFill/>
          <a:ln/>
        </p:spPr>
        <p:txBody>
          <a:bodyPr wrap="square" lIns="25400" tIns="25400" rIns="25400" bIns="25400" rtlCol="0" anchor="b">
            <a:normAutofit/>
          </a:bodyPr>
          <a:lstStyle/>
          <a:p>
            <a:pPr algn="l" indent="0" marL="0">
              <a:lnSpc>
                <a:spcPct val="136212"/>
              </a:lnSpc>
              <a:buNone/>
            </a:pPr>
            <a:r>
              <a:rPr lang="en-US" sz="2175" dirty="0">
                <a:solidFill>
                  <a:srgbClr val="1D1F20"/>
                </a:solidFill>
                <a:latin typeface="Arial" pitchFamily="34" charset="0"/>
                <a:ea typeface="Arial" pitchFamily="34" charset="-122"/>
                <a:cs typeface="Arial" pitchFamily="34" charset="-120"/>
              </a:rPr>
              <a:t>Different buyers, different asks</a:t>
            </a:r>
            <a:endParaRPr lang="en-US" sz="2175" dirty="0"/>
          </a:p>
        </p:txBody>
      </p:sp>
      <p:sp>
        <p:nvSpPr>
          <p:cNvPr id="13" name="Text 11"/>
          <p:cNvSpPr/>
          <p:nvPr/>
        </p:nvSpPr>
        <p:spPr>
          <a:xfrm>
            <a:off x="1143000" y="4572149"/>
            <a:ext cx="4009644" cy="952500"/>
          </a:xfrm>
          <a:prstGeom prst="rect">
            <a:avLst/>
          </a:prstGeom>
          <a:noFill/>
          <a:ln/>
        </p:spPr>
        <p:txBody>
          <a:bodyPr wrap="square" lIns="25400" tIns="25400" rIns="25400" bIns="25400" rtlCol="0" anchor="b">
            <a:normAutofit/>
          </a:bodyPr>
          <a:lstStyle/>
          <a:p>
            <a:pPr algn="l" indent="0" marL="0">
              <a:lnSpc>
                <a:spcPct val="136212"/>
              </a:lnSpc>
              <a:buNone/>
            </a:pPr>
            <a:r>
              <a:rPr lang="en-US" sz="2175" dirty="0">
                <a:solidFill>
                  <a:srgbClr val="1D1F20"/>
                </a:solidFill>
                <a:latin typeface="Arial" pitchFamily="34" charset="0"/>
                <a:ea typeface="Arial" pitchFamily="34" charset="-122"/>
                <a:cs typeface="Arial" pitchFamily="34" charset="-120"/>
              </a:rPr>
              <a:t>Wants</a:t>
            </a:r>
            <a:endParaRPr lang="en-US" sz="2175" dirty="0"/>
          </a:p>
        </p:txBody>
      </p:sp>
      <p:sp>
        <p:nvSpPr>
          <p:cNvPr id="14" name="Text 12"/>
          <p:cNvSpPr/>
          <p:nvPr/>
        </p:nvSpPr>
        <p:spPr>
          <a:xfrm>
            <a:off x="5257800" y="4572149"/>
            <a:ext cx="4009644" cy="952500"/>
          </a:xfrm>
          <a:prstGeom prst="rect">
            <a:avLst/>
          </a:prstGeom>
          <a:noFill/>
          <a:ln/>
        </p:spPr>
        <p:txBody>
          <a:bodyPr wrap="square" lIns="25400" tIns="25400" rIns="25400" bIns="25400" rtlCol="0" anchor="b">
            <a:normAutofit/>
          </a:bodyPr>
          <a:lstStyle/>
          <a:p>
            <a:pPr algn="l" indent="0" marL="0">
              <a:lnSpc>
                <a:spcPct val="136212"/>
              </a:lnSpc>
              <a:buNone/>
            </a:pPr>
            <a:r>
              <a:rPr lang="en-US" sz="2175" dirty="0">
                <a:solidFill>
                  <a:srgbClr val="1D1F20"/>
                </a:solidFill>
                <a:latin typeface="Arial" pitchFamily="34" charset="0"/>
                <a:ea typeface="Arial" pitchFamily="34" charset="-122"/>
                <a:cs typeface="Arial" pitchFamily="34" charset="-120"/>
              </a:rPr>
              <a:t>Portal, dashboard, storage, review</a:t>
            </a:r>
            <a:endParaRPr lang="en-US" sz="2175" dirty="0"/>
          </a:p>
        </p:txBody>
      </p:sp>
      <p:sp>
        <p:nvSpPr>
          <p:cNvPr id="15" name="Text 13"/>
          <p:cNvSpPr/>
          <p:nvPr/>
        </p:nvSpPr>
        <p:spPr>
          <a:xfrm>
            <a:off x="9372600" y="4572149"/>
            <a:ext cx="4009644" cy="952500"/>
          </a:xfrm>
          <a:prstGeom prst="rect">
            <a:avLst/>
          </a:prstGeom>
          <a:noFill/>
          <a:ln/>
        </p:spPr>
        <p:txBody>
          <a:bodyPr wrap="square" lIns="25400" tIns="25400" rIns="25400" bIns="25400" rtlCol="0" anchor="b">
            <a:normAutofit/>
          </a:bodyPr>
          <a:lstStyle/>
          <a:p>
            <a:pPr algn="l" indent="0" marL="0">
              <a:lnSpc>
                <a:spcPct val="136212"/>
              </a:lnSpc>
              <a:buNone/>
            </a:pPr>
            <a:r>
              <a:rPr lang="en-US" sz="2175" dirty="0">
                <a:solidFill>
                  <a:srgbClr val="1D1F20"/>
                </a:solidFill>
                <a:latin typeface="Arial" pitchFamily="34" charset="0"/>
                <a:ea typeface="Arial" pitchFamily="34" charset="-122"/>
                <a:cs typeface="Arial" pitchFamily="34" charset="-120"/>
              </a:rPr>
              <a:t>AI classification and prioritization only</a:t>
            </a:r>
            <a:endParaRPr lang="en-US" sz="2175" dirty="0"/>
          </a:p>
        </p:txBody>
      </p:sp>
      <p:sp>
        <p:nvSpPr>
          <p:cNvPr id="16" name="Text 14"/>
          <p:cNvSpPr/>
          <p:nvPr/>
        </p:nvSpPr>
        <p:spPr>
          <a:xfrm>
            <a:off x="13487400" y="4572149"/>
            <a:ext cx="3767328" cy="952500"/>
          </a:xfrm>
          <a:prstGeom prst="rect">
            <a:avLst/>
          </a:prstGeom>
          <a:noFill/>
          <a:ln/>
        </p:spPr>
        <p:txBody>
          <a:bodyPr wrap="square" lIns="25400" tIns="25400" rIns="25400" bIns="25400" rtlCol="0" anchor="b">
            <a:normAutofit/>
          </a:bodyPr>
          <a:lstStyle/>
          <a:p>
            <a:pPr algn="l" indent="0" marL="0">
              <a:lnSpc>
                <a:spcPct val="136212"/>
              </a:lnSpc>
              <a:buNone/>
            </a:pPr>
            <a:r>
              <a:rPr lang="en-US" sz="2175" dirty="0">
                <a:solidFill>
                  <a:srgbClr val="1D1F20"/>
                </a:solidFill>
                <a:latin typeface="Arial" pitchFamily="34" charset="0"/>
                <a:ea typeface="Arial" pitchFamily="34" charset="-122"/>
                <a:cs typeface="Arial" pitchFamily="34" charset="-120"/>
              </a:rPr>
              <a:t>Scope differs, not just scale</a:t>
            </a:r>
            <a:endParaRPr lang="en-US" sz="2175" dirty="0"/>
          </a:p>
        </p:txBody>
      </p:sp>
      <p:sp>
        <p:nvSpPr>
          <p:cNvPr id="17" name="Text 15"/>
          <p:cNvSpPr/>
          <p:nvPr/>
        </p:nvSpPr>
        <p:spPr>
          <a:xfrm>
            <a:off x="1143000" y="5715149"/>
            <a:ext cx="4009644" cy="952500"/>
          </a:xfrm>
          <a:prstGeom prst="rect">
            <a:avLst/>
          </a:prstGeom>
          <a:noFill/>
          <a:ln/>
        </p:spPr>
        <p:txBody>
          <a:bodyPr wrap="square" lIns="25400" tIns="25400" rIns="25400" bIns="25400" rtlCol="0" anchor="b">
            <a:normAutofit/>
          </a:bodyPr>
          <a:lstStyle/>
          <a:p>
            <a:pPr algn="l" indent="0" marL="0">
              <a:lnSpc>
                <a:spcPct val="136212"/>
              </a:lnSpc>
              <a:buNone/>
            </a:pPr>
            <a:r>
              <a:rPr lang="en-US" sz="2175" dirty="0">
                <a:solidFill>
                  <a:srgbClr val="1D1F20"/>
                </a:solidFill>
                <a:latin typeface="Arial" pitchFamily="34" charset="0"/>
                <a:ea typeface="Arial" pitchFamily="34" charset="-122"/>
                <a:cs typeface="Arial" pitchFamily="34" charset="-120"/>
              </a:rPr>
              <a:t>Routing</a:t>
            </a:r>
            <a:endParaRPr lang="en-US" sz="2175" dirty="0"/>
          </a:p>
        </p:txBody>
      </p:sp>
      <p:sp>
        <p:nvSpPr>
          <p:cNvPr id="18" name="Text 16"/>
          <p:cNvSpPr/>
          <p:nvPr/>
        </p:nvSpPr>
        <p:spPr>
          <a:xfrm>
            <a:off x="5257800" y="5715149"/>
            <a:ext cx="4009644" cy="952500"/>
          </a:xfrm>
          <a:prstGeom prst="rect">
            <a:avLst/>
          </a:prstGeom>
          <a:noFill/>
          <a:ln/>
        </p:spPr>
        <p:txBody>
          <a:bodyPr wrap="square" lIns="25400" tIns="25400" rIns="25400" bIns="25400" rtlCol="0" anchor="b">
            <a:normAutofit/>
          </a:bodyPr>
          <a:lstStyle/>
          <a:p>
            <a:pPr algn="l" indent="0" marL="0">
              <a:lnSpc>
                <a:spcPct val="136212"/>
              </a:lnSpc>
              <a:buNone/>
            </a:pPr>
            <a:r>
              <a:rPr lang="en-US" sz="2175" dirty="0">
                <a:solidFill>
                  <a:srgbClr val="1D1F20"/>
                </a:solidFill>
                <a:latin typeface="Arial" pitchFamily="34" charset="0"/>
                <a:ea typeface="Arial" pitchFamily="34" charset="-122"/>
                <a:cs typeface="Arial" pitchFamily="34" charset="-120"/>
              </a:rPr>
              <a:t>AIGRE owns it</a:t>
            </a:r>
            <a:endParaRPr lang="en-US" sz="2175" dirty="0"/>
          </a:p>
        </p:txBody>
      </p:sp>
      <p:sp>
        <p:nvSpPr>
          <p:cNvPr id="19" name="Text 17"/>
          <p:cNvSpPr/>
          <p:nvPr/>
        </p:nvSpPr>
        <p:spPr>
          <a:xfrm>
            <a:off x="9372600" y="5715149"/>
            <a:ext cx="4009644" cy="952500"/>
          </a:xfrm>
          <a:prstGeom prst="rect">
            <a:avLst/>
          </a:prstGeom>
          <a:noFill/>
          <a:ln/>
        </p:spPr>
        <p:txBody>
          <a:bodyPr wrap="square" lIns="25400" tIns="25400" rIns="25400" bIns="25400" rtlCol="0" anchor="b">
            <a:normAutofit/>
          </a:bodyPr>
          <a:lstStyle/>
          <a:p>
            <a:pPr algn="l" indent="0" marL="0">
              <a:lnSpc>
                <a:spcPct val="136212"/>
              </a:lnSpc>
              <a:buNone/>
            </a:pPr>
            <a:r>
              <a:rPr lang="en-US" sz="2175" dirty="0">
                <a:solidFill>
                  <a:srgbClr val="1D1F20"/>
                </a:solidFill>
                <a:latin typeface="Arial" pitchFamily="34" charset="0"/>
                <a:ea typeface="Arial" pitchFamily="34" charset="-122"/>
                <a:cs typeface="Arial" pitchFamily="34" charset="-120"/>
              </a:rPr>
              <a:t>Explicitly skipped — their system routes</a:t>
            </a:r>
            <a:endParaRPr lang="en-US" sz="2175" dirty="0"/>
          </a:p>
        </p:txBody>
      </p:sp>
      <p:sp>
        <p:nvSpPr>
          <p:cNvPr id="20" name="Text 18"/>
          <p:cNvSpPr/>
          <p:nvPr/>
        </p:nvSpPr>
        <p:spPr>
          <a:xfrm>
            <a:off x="13487400" y="5715149"/>
            <a:ext cx="3767328" cy="952500"/>
          </a:xfrm>
          <a:prstGeom prst="rect">
            <a:avLst/>
          </a:prstGeom>
          <a:noFill/>
          <a:ln/>
        </p:spPr>
        <p:txBody>
          <a:bodyPr wrap="square" lIns="25400" tIns="25400" rIns="25400" bIns="25400" rtlCol="0" anchor="b">
            <a:normAutofit/>
          </a:bodyPr>
          <a:lstStyle/>
          <a:p>
            <a:pPr algn="l" indent="0" marL="0">
              <a:lnSpc>
                <a:spcPct val="136212"/>
              </a:lnSpc>
              <a:buNone/>
            </a:pPr>
            <a:r>
              <a:rPr lang="en-US" sz="2175" dirty="0">
                <a:solidFill>
                  <a:srgbClr val="1D1F20"/>
                </a:solidFill>
                <a:latin typeface="Arial" pitchFamily="34" charset="0"/>
                <a:ea typeface="Arial" pitchFamily="34" charset="-122"/>
                <a:cs typeface="Arial" pitchFamily="34" charset="-120"/>
              </a:rPr>
              <a:t>Two architectures, not one flag</a:t>
            </a:r>
            <a:endParaRPr lang="en-US" sz="2175" dirty="0"/>
          </a:p>
        </p:txBody>
      </p:sp>
      <p:pic>
        <p:nvPicPr>
          <p:cNvPr id="21" name="Image 0" descr="preencoded.png">    </p:cNvPr>
          <p:cNvPicPr>
            <a:picLocks noChangeAspect="1"/>
          </p:cNvPicPr>
          <p:nvPr/>
        </p:nvPicPr>
        <p:blipFill>
          <a:blip r:embed="rId2"/>
          <a:stretch>
            <a:fillRect/>
          </a:stretch>
        </p:blipFill>
        <p:spPr>
          <a:xfrm>
            <a:off x="1143000" y="8755410"/>
            <a:ext cx="3156645" cy="1599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261"/>
            <a:ext cx="1921312" cy="198090"/>
          </a:xfrm>
          <a:prstGeom prst="rect">
            <a:avLst/>
          </a:prstGeom>
          <a:noFill/>
          <a:ln/>
        </p:spPr>
        <p:txBody>
          <a:bodyPr wrap="square" lIns="25400" tIns="25400" rIns="25400" bIns="25400" rtlCol="0" anchor="t">
            <a:normAutofit/>
          </a:bodyPr>
          <a:lstStyle/>
          <a:p>
            <a:pPr algn="l" indent="0" marL="0">
              <a:lnSpc>
                <a:spcPct val="132857"/>
              </a:lnSpc>
              <a:buNone/>
            </a:pPr>
            <a:r>
              <a:rPr lang="en-US" sz="1800" b="1" spc="144" kern="0" dirty="0">
                <a:solidFill>
                  <a:srgbClr val="5980A6"/>
                </a:solidFill>
                <a:latin typeface="Arial" pitchFamily="34" charset="0"/>
                <a:ea typeface="Arial" pitchFamily="34" charset="-122"/>
                <a:cs typeface="Arial" pitchFamily="34" charset="-120"/>
              </a:rPr>
              <a:t>01 · THE PROBLEM</a:t>
            </a:r>
            <a:endParaRPr lang="en-US" sz="1800" dirty="0"/>
          </a:p>
        </p:txBody>
      </p:sp>
      <p:sp>
        <p:nvSpPr>
          <p:cNvPr id="4" name="Text 2"/>
          <p:cNvSpPr/>
          <p:nvPr/>
        </p:nvSpPr>
        <p:spPr>
          <a:xfrm>
            <a:off x="1095524" y="1646039"/>
            <a:ext cx="17654424" cy="678210"/>
          </a:xfrm>
          <a:prstGeom prst="rect">
            <a:avLst/>
          </a:prstGeom>
          <a:noFill/>
          <a:ln/>
        </p:spPr>
        <p:txBody>
          <a:bodyPr wrap="square" lIns="25400" tIns="25400" rIns="25400" bIns="25400" rtlCol="0" anchor="t">
            <a:normAutofit/>
          </a:bodyPr>
          <a:lstStyle/>
          <a:p>
            <a:pPr algn="l" indent="0" marL="0">
              <a:lnSpc>
                <a:spcPct val="87273"/>
              </a:lnSpc>
              <a:buNone/>
            </a:pPr>
            <a:r>
              <a:rPr lang="en-US" sz="7200" b="1" dirty="0">
                <a:solidFill>
                  <a:srgbClr val="1D1F20"/>
                </a:solidFill>
                <a:latin typeface="Arial" pitchFamily="34" charset="0"/>
                <a:ea typeface="Arial" pitchFamily="34" charset="-122"/>
                <a:cs typeface="Arial" pitchFamily="34" charset="-120"/>
              </a:rPr>
              <a:t>What’s hardcoded today</a:t>
            </a:r>
            <a:endParaRPr lang="en-US" sz="7200" dirty="0"/>
          </a:p>
        </p:txBody>
      </p:sp>
      <p:sp>
        <p:nvSpPr>
          <p:cNvPr id="5" name="Text 3"/>
          <p:cNvSpPr/>
          <p:nvPr/>
        </p:nvSpPr>
        <p:spPr>
          <a:xfrm>
            <a:off x="916305" y="3202335"/>
            <a:ext cx="11923395" cy="4607719"/>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No tenant concept: department codes are global, so two agencies’ “DPW” collide</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The taxonomy lives in three places — seed data, a frontend constant, and the AI prompt</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Policy search has no isolation: one agency’s chatbot could cite another’s documents</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But the classifier is already stateless — the persistence around it is what’s coupled</a:t>
            </a:r>
            <a:endParaRPr lang="en-US" sz="2550" dirty="0"/>
          </a:p>
        </p:txBody>
      </p:sp>
      <p:pic>
        <p:nvPicPr>
          <p:cNvPr id="6" name="Image 0" descr="preencoded.png">    </p:cNvPr>
          <p:cNvPicPr>
            <a:picLocks noChangeAspect="1"/>
          </p:cNvPicPr>
          <p:nvPr/>
        </p:nvPicPr>
        <p:blipFill>
          <a:blip r:embed="rId2"/>
          <a:stretch>
            <a:fillRect/>
          </a:stretch>
        </p:blipFill>
        <p:spPr>
          <a:xfrm>
            <a:off x="1143000" y="8755410"/>
            <a:ext cx="3156645" cy="1599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261"/>
            <a:ext cx="1921312" cy="198090"/>
          </a:xfrm>
          <a:prstGeom prst="rect">
            <a:avLst/>
          </a:prstGeom>
          <a:noFill/>
          <a:ln/>
        </p:spPr>
        <p:txBody>
          <a:bodyPr wrap="square" lIns="25400" tIns="25400" rIns="25400" bIns="25400" rtlCol="0" anchor="t">
            <a:normAutofit/>
          </a:bodyPr>
          <a:lstStyle/>
          <a:p>
            <a:pPr algn="l" indent="0" marL="0">
              <a:lnSpc>
                <a:spcPct val="132857"/>
              </a:lnSpc>
              <a:buNone/>
            </a:pPr>
            <a:r>
              <a:rPr lang="en-US" sz="1800" b="1" spc="144" kern="0" dirty="0">
                <a:solidFill>
                  <a:srgbClr val="5980A6"/>
                </a:solidFill>
                <a:latin typeface="Arial" pitchFamily="34" charset="0"/>
                <a:ea typeface="Arial" pitchFamily="34" charset="-122"/>
                <a:cs typeface="Arial" pitchFamily="34" charset="-120"/>
              </a:rPr>
              <a:t>01 · THE PROBLEM</a:t>
            </a:r>
            <a:endParaRPr lang="en-US" sz="1800" dirty="0"/>
          </a:p>
        </p:txBody>
      </p:sp>
      <p:sp>
        <p:nvSpPr>
          <p:cNvPr id="4" name="Text 2"/>
          <p:cNvSpPr/>
          <p:nvPr/>
        </p:nvSpPr>
        <p:spPr>
          <a:xfrm>
            <a:off x="1095524" y="1646039"/>
            <a:ext cx="17654424" cy="678210"/>
          </a:xfrm>
          <a:prstGeom prst="rect">
            <a:avLst/>
          </a:prstGeom>
          <a:noFill/>
          <a:ln/>
        </p:spPr>
        <p:txBody>
          <a:bodyPr wrap="square" lIns="25400" tIns="25400" rIns="25400" bIns="25400" rtlCol="0" anchor="t">
            <a:normAutofit/>
          </a:bodyPr>
          <a:lstStyle/>
          <a:p>
            <a:pPr algn="l" indent="0" marL="0">
              <a:lnSpc>
                <a:spcPct val="87273"/>
              </a:lnSpc>
              <a:buNone/>
            </a:pPr>
            <a:r>
              <a:rPr lang="en-US" sz="7200" b="1" dirty="0">
                <a:solidFill>
                  <a:srgbClr val="1D1F20"/>
                </a:solidFill>
                <a:latin typeface="Arial" pitchFamily="34" charset="0"/>
                <a:ea typeface="Arial" pitchFamily="34" charset="-122"/>
                <a:cs typeface="Arial" pitchFamily="34" charset="-120"/>
              </a:rPr>
              <a:t>How we look up “this agency’s records”</a:t>
            </a:r>
            <a:endParaRPr lang="en-US" sz="7200" dirty="0"/>
          </a:p>
        </p:txBody>
      </p:sp>
      <p:sp>
        <p:nvSpPr>
          <p:cNvPr id="5" name="Text 3"/>
          <p:cNvSpPr/>
          <p:nvPr/>
        </p:nvSpPr>
        <p:spPr>
          <a:xfrm>
            <a:off x="1143000" y="3162449"/>
            <a:ext cx="8549640" cy="304800"/>
          </a:xfrm>
          <a:prstGeom prst="rect">
            <a:avLst/>
          </a:prstGeom>
          <a:noFill/>
          <a:ln/>
        </p:spPr>
        <p:txBody>
          <a:bodyPr wrap="square" lIns="25400" tIns="25400" rIns="25400" bIns="25400" rtlCol="0" anchor="t">
            <a:normAutofit/>
          </a:bodyPr>
          <a:lstStyle/>
          <a:p>
            <a:pPr algn="l" indent="0" marL="0">
              <a:lnSpc>
                <a:spcPct val="106667"/>
              </a:lnSpc>
              <a:buNone/>
            </a:pPr>
            <a:r>
              <a:rPr lang="en-US" sz="3000" b="1" spc="-45" kern="0" dirty="0">
                <a:solidFill>
                  <a:srgbClr val="1D1F20"/>
                </a:solidFill>
                <a:latin typeface="Arial" pitchFamily="34" charset="0"/>
                <a:ea typeface="Arial" pitchFamily="34" charset="-122"/>
                <a:cs typeface="Arial" pitchFamily="34" charset="-120"/>
              </a:rPr>
              <a:t>Model A — one more filter</a:t>
            </a:r>
            <a:endParaRPr lang="en-US" sz="3000" dirty="0"/>
          </a:p>
        </p:txBody>
      </p:sp>
      <p:sp>
        <p:nvSpPr>
          <p:cNvPr id="6" name="Text 4"/>
          <p:cNvSpPr/>
          <p:nvPr/>
        </p:nvSpPr>
        <p:spPr>
          <a:xfrm>
            <a:off x="1143000" y="4156770"/>
            <a:ext cx="8005572" cy="113913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1D1F20"/>
                </a:solidFill>
                <a:latin typeface="Arial" pitchFamily="34" charset="0"/>
                <a:ea typeface="Arial" pitchFamily="34" charset="-122"/>
                <a:cs typeface="Arial" pitchFamily="34" charset="-120"/>
              </a:rPr>
              <a:t>The dashboard already scopes every query by department, derived from the logged-in user and never trusted from the client. Agency is one more dimension on a pattern that already works.</a:t>
            </a:r>
            <a:endParaRPr lang="en-US" sz="2100" dirty="0"/>
          </a:p>
        </p:txBody>
      </p:sp>
      <p:sp>
        <p:nvSpPr>
          <p:cNvPr id="7" name="Text 5"/>
          <p:cNvSpPr/>
          <p:nvPr/>
        </p:nvSpPr>
        <p:spPr>
          <a:xfrm>
            <a:off x="9372600" y="3162449"/>
            <a:ext cx="8549640" cy="304800"/>
          </a:xfrm>
          <a:prstGeom prst="rect">
            <a:avLst/>
          </a:prstGeom>
          <a:noFill/>
          <a:ln/>
        </p:spPr>
        <p:txBody>
          <a:bodyPr wrap="square" lIns="25400" tIns="25400" rIns="25400" bIns="25400" rtlCol="0" anchor="t">
            <a:normAutofit/>
          </a:bodyPr>
          <a:lstStyle/>
          <a:p>
            <a:pPr algn="l" indent="0" marL="0">
              <a:lnSpc>
                <a:spcPct val="106667"/>
              </a:lnSpc>
              <a:buNone/>
            </a:pPr>
            <a:r>
              <a:rPr lang="en-US" sz="3000" b="1" spc="-45" kern="0" dirty="0">
                <a:solidFill>
                  <a:srgbClr val="1D1F20"/>
                </a:solidFill>
                <a:latin typeface="Arial" pitchFamily="34" charset="0"/>
                <a:ea typeface="Arial" pitchFamily="34" charset="-122"/>
                <a:cs typeface="Arial" pitchFamily="34" charset="-120"/>
              </a:rPr>
              <a:t>Model B — AIGRE reaches out</a:t>
            </a:r>
            <a:endParaRPr lang="en-US" sz="3000" dirty="0"/>
          </a:p>
        </p:txBody>
      </p:sp>
      <p:sp>
        <p:nvSpPr>
          <p:cNvPr id="8" name="Text 6"/>
          <p:cNvSpPr/>
          <p:nvPr/>
        </p:nvSpPr>
        <p:spPr>
          <a:xfrm>
            <a:off x="9372600" y="4156770"/>
            <a:ext cx="8005572" cy="205353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1D1F20"/>
                </a:solidFill>
                <a:latin typeface="Arial" pitchFamily="34" charset="0"/>
                <a:ea typeface="Arial" pitchFamily="34" charset="-122"/>
                <a:cs typeface="Arial" pitchFamily="34" charset="-120"/>
              </a:rPr>
              <a:t>Live during classification, not a passive handoff: AIGRE becomes an MCP client and calls the agency’s own tools. Native MCP connects directly; a legacy REST API is wrapped by a reusable adapter driven by config, not custom code. Every agency-facing tool defaults to read-only.</a:t>
            </a:r>
            <a:endParaRPr lang="en-US" sz="2100" dirty="0"/>
          </a:p>
        </p:txBody>
      </p:sp>
      <p:pic>
        <p:nvPicPr>
          <p:cNvPr id="9" name="Image 0" descr="preencoded.png">    </p:cNvPr>
          <p:cNvPicPr>
            <a:picLocks noChangeAspect="1"/>
          </p:cNvPicPr>
          <p:nvPr/>
        </p:nvPicPr>
        <p:blipFill>
          <a:blip r:embed="rId2"/>
          <a:stretch>
            <a:fillRect/>
          </a:stretch>
        </p:blipFill>
        <p:spPr>
          <a:xfrm>
            <a:off x="1143000" y="8755410"/>
            <a:ext cx="3156645" cy="1599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261"/>
            <a:ext cx="1937355" cy="198090"/>
          </a:xfrm>
          <a:prstGeom prst="rect">
            <a:avLst/>
          </a:prstGeom>
          <a:noFill/>
          <a:ln/>
        </p:spPr>
        <p:txBody>
          <a:bodyPr wrap="square" lIns="25400" tIns="25400" rIns="25400" bIns="25400" rtlCol="0" anchor="t">
            <a:normAutofit/>
          </a:bodyPr>
          <a:lstStyle/>
          <a:p>
            <a:pPr algn="l" indent="0" marL="0">
              <a:lnSpc>
                <a:spcPct val="132857"/>
              </a:lnSpc>
              <a:buNone/>
            </a:pPr>
            <a:r>
              <a:rPr lang="en-US" sz="1800" b="1" spc="144" kern="0" dirty="0">
                <a:solidFill>
                  <a:srgbClr val="5980A6"/>
                </a:solidFill>
                <a:latin typeface="Arial" pitchFamily="34" charset="0"/>
                <a:ea typeface="Arial" pitchFamily="34" charset="-122"/>
                <a:cs typeface="Arial" pitchFamily="34" charset="-120"/>
              </a:rPr>
              <a:t>02 · THE ROADMAP</a:t>
            </a:r>
            <a:endParaRPr lang="en-US" sz="1800" dirty="0"/>
          </a:p>
        </p:txBody>
      </p:sp>
      <p:sp>
        <p:nvSpPr>
          <p:cNvPr id="4" name="Text 2"/>
          <p:cNvSpPr/>
          <p:nvPr/>
        </p:nvSpPr>
        <p:spPr>
          <a:xfrm>
            <a:off x="1095524" y="1646039"/>
            <a:ext cx="17654424" cy="678210"/>
          </a:xfrm>
          <a:prstGeom prst="rect">
            <a:avLst/>
          </a:prstGeom>
          <a:noFill/>
          <a:ln/>
        </p:spPr>
        <p:txBody>
          <a:bodyPr wrap="square" lIns="25400" tIns="25400" rIns="25400" bIns="25400" rtlCol="0" anchor="t">
            <a:normAutofit/>
          </a:bodyPr>
          <a:lstStyle/>
          <a:p>
            <a:pPr algn="l" indent="0" marL="0">
              <a:lnSpc>
                <a:spcPct val="87273"/>
              </a:lnSpc>
              <a:buNone/>
            </a:pPr>
            <a:r>
              <a:rPr lang="en-US" sz="7200" b="1" dirty="0">
                <a:solidFill>
                  <a:srgbClr val="1D1F20"/>
                </a:solidFill>
                <a:latin typeface="Arial" pitchFamily="34" charset="0"/>
                <a:ea typeface="Arial" pitchFamily="34" charset="-122"/>
                <a:cs typeface="Arial" pitchFamily="34" charset="-120"/>
              </a:rPr>
              <a:t>Five phases, in dependency order</a:t>
            </a:r>
            <a:endParaRPr lang="en-US" sz="7200" dirty="0"/>
          </a:p>
        </p:txBody>
      </p:sp>
      <p:pic>
        <p:nvPicPr>
          <p:cNvPr id="5" name="Image 0"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3000" y="3657749"/>
            <a:ext cx="16002000" cy="2286000"/>
          </a:xfrm>
          <a:prstGeom prst="rect">
            <a:avLst/>
          </a:prstGeom>
        </p:spPr>
      </p:pic>
      <p:sp>
        <p:nvSpPr>
          <p:cNvPr id="6" name="Text 3"/>
          <p:cNvSpPr/>
          <p:nvPr/>
        </p:nvSpPr>
        <p:spPr>
          <a:xfrm>
            <a:off x="1143000" y="6691461"/>
            <a:ext cx="12194762" cy="661987"/>
          </a:xfrm>
          <a:prstGeom prst="rect">
            <a:avLst/>
          </a:prstGeom>
          <a:noFill/>
          <a:ln/>
        </p:spPr>
        <p:txBody>
          <a:bodyPr wrap="square" lIns="25400" tIns="25400" rIns="25400" bIns="25400" rtlCol="0" anchor="t">
            <a:normAutofit/>
          </a:bodyPr>
          <a:lstStyle/>
          <a:p>
            <a:pPr algn="l" indent="0" marL="0">
              <a:lnSpc>
                <a:spcPct val="165517"/>
              </a:lnSpc>
              <a:buNone/>
            </a:pPr>
            <a:r>
              <a:rPr lang="en-US" sz="1875" dirty="0">
                <a:solidFill>
                  <a:srgbClr val="1D1F21">
                    <a:alpha val="55000"/>
                  </a:srgbClr>
                </a:solidFill>
                <a:latin typeface="Arial" pitchFamily="34" charset="0"/>
                <a:ea typeface="Arial" pitchFamily="34" charset="-122"/>
                <a:cs typeface="Arial" pitchFamily="34" charset="-120"/>
              </a:rPr>
              <a:t>Phases 1–2 are shared infrastructure; 3 and 4 fork by model; 5 is a natural follow-on to 4, not a separate feature — an agency with its own MCP server is served by Phase 4 alone.</a:t>
            </a:r>
            <a:endParaRPr lang="en-US" sz="1875" dirty="0"/>
          </a:p>
        </p:txBody>
      </p:sp>
      <p:pic>
        <p:nvPicPr>
          <p:cNvPr id="7" name="Image 1" descr="preencoded.png">    </p:cNvPr>
          <p:cNvPicPr>
            <a:picLocks noChangeAspect="1"/>
          </p:cNvPicPr>
          <p:nvPr/>
        </p:nvPicPr>
        <p:blipFill>
          <a:blip r:embed="rId4"/>
          <a:stretch>
            <a:fillRect/>
          </a:stretch>
        </p:blipFill>
        <p:spPr>
          <a:xfrm>
            <a:off x="1143000" y="8755410"/>
            <a:ext cx="3156645" cy="1599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261"/>
            <a:ext cx="1937355" cy="198090"/>
          </a:xfrm>
          <a:prstGeom prst="rect">
            <a:avLst/>
          </a:prstGeom>
          <a:noFill/>
          <a:ln/>
        </p:spPr>
        <p:txBody>
          <a:bodyPr wrap="square" lIns="25400" tIns="25400" rIns="25400" bIns="25400" rtlCol="0" anchor="t">
            <a:normAutofit/>
          </a:bodyPr>
          <a:lstStyle/>
          <a:p>
            <a:pPr algn="l" indent="0" marL="0">
              <a:lnSpc>
                <a:spcPct val="132857"/>
              </a:lnSpc>
              <a:buNone/>
            </a:pPr>
            <a:r>
              <a:rPr lang="en-US" sz="1800" b="1" spc="144" kern="0" dirty="0">
                <a:solidFill>
                  <a:srgbClr val="5980A6"/>
                </a:solidFill>
                <a:latin typeface="Arial" pitchFamily="34" charset="0"/>
                <a:ea typeface="Arial" pitchFamily="34" charset="-122"/>
                <a:cs typeface="Arial" pitchFamily="34" charset="-120"/>
              </a:rPr>
              <a:t>02 · THE ROADMAP</a:t>
            </a:r>
            <a:endParaRPr lang="en-US" sz="1800" dirty="0"/>
          </a:p>
        </p:txBody>
      </p:sp>
      <p:sp>
        <p:nvSpPr>
          <p:cNvPr id="4" name="Text 2"/>
          <p:cNvSpPr/>
          <p:nvPr/>
        </p:nvSpPr>
        <p:spPr>
          <a:xfrm>
            <a:off x="1095524" y="1646039"/>
            <a:ext cx="17654424" cy="678210"/>
          </a:xfrm>
          <a:prstGeom prst="rect">
            <a:avLst/>
          </a:prstGeom>
          <a:noFill/>
          <a:ln/>
        </p:spPr>
        <p:txBody>
          <a:bodyPr wrap="square" lIns="25400" tIns="25400" rIns="25400" bIns="25400" rtlCol="0" anchor="t">
            <a:normAutofit/>
          </a:bodyPr>
          <a:lstStyle/>
          <a:p>
            <a:pPr algn="l" indent="0" marL="0">
              <a:lnSpc>
                <a:spcPct val="87273"/>
              </a:lnSpc>
              <a:buNone/>
            </a:pPr>
            <a:r>
              <a:rPr lang="en-US" sz="7200" b="1" dirty="0">
                <a:solidFill>
                  <a:srgbClr val="1D1F20"/>
                </a:solidFill>
                <a:latin typeface="Arial" pitchFamily="34" charset="0"/>
                <a:ea typeface="Arial" pitchFamily="34" charset="-122"/>
                <a:cs typeface="Arial" pitchFamily="34" charset="-120"/>
              </a:rPr>
              <a:t>Phases 1–2: the shared foundation</a:t>
            </a:r>
            <a:endParaRPr lang="en-US" sz="7200" dirty="0"/>
          </a:p>
        </p:txBody>
      </p:sp>
      <p:sp>
        <p:nvSpPr>
          <p:cNvPr id="5" name="Text 3"/>
          <p:cNvSpPr/>
          <p:nvPr/>
        </p:nvSpPr>
        <p:spPr>
          <a:xfrm>
            <a:off x="1143000" y="3202335"/>
            <a:ext cx="12782550" cy="26476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An </a:t>
            </a:r>
            <a:pPr algn="l" indent="0" marL="0">
              <a:lnSpc>
                <a:spcPct val="123077"/>
              </a:lnSpc>
              <a:buNone/>
            </a:pPr>
            <a:r>
              <a:rPr lang="en-US" sz="2550" dirty="0">
                <a:solidFill>
                  <a:srgbClr val="1D1F20"/>
                </a:solidFill>
                <a:latin typeface="Courier New" pitchFamily="34" charset="0"/>
                <a:ea typeface="Courier New" pitchFamily="34" charset="-122"/>
                <a:cs typeface="Courier New" pitchFamily="34" charset="-120"/>
              </a:rPr>
              <a:t>agencies </a:t>
            </a:r>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table, scoping departments, employees, citizens and grievances</a:t>
            </a:r>
            <a:endParaRPr lang="en-US" sz="2550" dirty="0"/>
          </a:p>
        </p:txBody>
      </p:sp>
      <p:sp>
        <p:nvSpPr>
          <p:cNvPr id="6" name="Text 4"/>
          <p:cNvSpPr/>
          <p:nvPr/>
        </p:nvSpPr>
        <p:spPr>
          <a:xfrm>
            <a:off x="1143000" y="4345186"/>
            <a:ext cx="12782550" cy="26476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Login and access control gain an agency dimension atop department scoping</a:t>
            </a:r>
            <a:endParaRPr lang="en-US" sz="2550" dirty="0"/>
          </a:p>
        </p:txBody>
      </p:sp>
      <p:sp>
        <p:nvSpPr>
          <p:cNvPr id="7" name="Text 5"/>
          <p:cNvSpPr/>
          <p:nvPr/>
        </p:nvSpPr>
        <p:spPr>
          <a:xfrm>
            <a:off x="1143000" y="5488037"/>
            <a:ext cx="12782550" cy="26476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The department dropdown becomes a live API call, not a hardcoded list</a:t>
            </a:r>
            <a:endParaRPr lang="en-US" sz="2550" dirty="0"/>
          </a:p>
        </p:txBody>
      </p:sp>
      <p:sp>
        <p:nvSpPr>
          <p:cNvPr id="8" name="Text 6"/>
          <p:cNvSpPr/>
          <p:nvPr/>
        </p:nvSpPr>
        <p:spPr>
          <a:xfrm>
            <a:off x="1143000" y="6630888"/>
            <a:ext cx="12782550" cy="26476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The classifier prompt becomes templated per agency, not one baked-in taxonomy</a:t>
            </a:r>
            <a:endParaRPr lang="en-US" sz="2550" dirty="0"/>
          </a:p>
        </p:txBody>
      </p:sp>
      <p:sp>
        <p:nvSpPr>
          <p:cNvPr id="9" name="Text 7"/>
          <p:cNvSpPr/>
          <p:nvPr/>
        </p:nvSpPr>
        <p:spPr>
          <a:xfrm>
            <a:off x="1143000" y="7773739"/>
            <a:ext cx="12782550" cy="26476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Policy search gets real isolation — an agency cites only its own documents</a:t>
            </a:r>
            <a:endParaRPr lang="en-US" sz="2550" dirty="0"/>
          </a:p>
        </p:txBody>
      </p:sp>
      <p:pic>
        <p:nvPicPr>
          <p:cNvPr id="10" name="Image 0" descr="preencoded.png">    </p:cNvPr>
          <p:cNvPicPr>
            <a:picLocks noChangeAspect="1"/>
          </p:cNvPicPr>
          <p:nvPr/>
        </p:nvPicPr>
        <p:blipFill>
          <a:blip r:embed="rId2"/>
          <a:stretch>
            <a:fillRect/>
          </a:stretch>
        </p:blipFill>
        <p:spPr>
          <a:xfrm>
            <a:off x="1143000" y="8755410"/>
            <a:ext cx="3156645" cy="1599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261"/>
            <a:ext cx="1937355" cy="198090"/>
          </a:xfrm>
          <a:prstGeom prst="rect">
            <a:avLst/>
          </a:prstGeom>
          <a:noFill/>
          <a:ln/>
        </p:spPr>
        <p:txBody>
          <a:bodyPr wrap="square" lIns="25400" tIns="25400" rIns="25400" bIns="25400" rtlCol="0" anchor="t">
            <a:normAutofit/>
          </a:bodyPr>
          <a:lstStyle/>
          <a:p>
            <a:pPr algn="l" indent="0" marL="0">
              <a:lnSpc>
                <a:spcPct val="132857"/>
              </a:lnSpc>
              <a:buNone/>
            </a:pPr>
            <a:r>
              <a:rPr lang="en-US" sz="1800" b="1" spc="144" kern="0" dirty="0">
                <a:solidFill>
                  <a:srgbClr val="5980A6"/>
                </a:solidFill>
                <a:latin typeface="Arial" pitchFamily="34" charset="0"/>
                <a:ea typeface="Arial" pitchFamily="34" charset="-122"/>
                <a:cs typeface="Arial" pitchFamily="34" charset="-120"/>
              </a:rPr>
              <a:t>02 · THE ROADMAP</a:t>
            </a:r>
            <a:endParaRPr lang="en-US" sz="1800" dirty="0"/>
          </a:p>
        </p:txBody>
      </p:sp>
      <p:sp>
        <p:nvSpPr>
          <p:cNvPr id="4" name="Text 2"/>
          <p:cNvSpPr/>
          <p:nvPr/>
        </p:nvSpPr>
        <p:spPr>
          <a:xfrm>
            <a:off x="1095524" y="1646039"/>
            <a:ext cx="17654424" cy="678210"/>
          </a:xfrm>
          <a:prstGeom prst="rect">
            <a:avLst/>
          </a:prstGeom>
          <a:noFill/>
          <a:ln/>
        </p:spPr>
        <p:txBody>
          <a:bodyPr wrap="square" lIns="25400" tIns="25400" rIns="25400" bIns="25400" rtlCol="0" anchor="t">
            <a:normAutofit/>
          </a:bodyPr>
          <a:lstStyle/>
          <a:p>
            <a:pPr algn="l" indent="0" marL="0">
              <a:lnSpc>
                <a:spcPct val="87273"/>
              </a:lnSpc>
              <a:buNone/>
            </a:pPr>
            <a:r>
              <a:rPr lang="en-US" sz="7200" b="1" dirty="0">
                <a:solidFill>
                  <a:srgbClr val="1D1F20"/>
                </a:solidFill>
                <a:latin typeface="Arial" pitchFamily="34" charset="0"/>
                <a:ea typeface="Arial" pitchFamily="34" charset="-122"/>
                <a:cs typeface="Arial" pitchFamily="34" charset="-120"/>
              </a:rPr>
              <a:t>Phases 3–4: two different end states</a:t>
            </a:r>
            <a:endParaRPr lang="en-US" sz="7200" dirty="0"/>
          </a:p>
        </p:txBody>
      </p:sp>
      <p:sp>
        <p:nvSpPr>
          <p:cNvPr id="5" name="Text 3"/>
          <p:cNvSpPr/>
          <p:nvPr/>
        </p:nvSpPr>
        <p:spPr>
          <a:xfrm>
            <a:off x="1143000" y="3162449"/>
            <a:ext cx="8549640" cy="304800"/>
          </a:xfrm>
          <a:prstGeom prst="rect">
            <a:avLst/>
          </a:prstGeom>
          <a:noFill/>
          <a:ln/>
        </p:spPr>
        <p:txBody>
          <a:bodyPr wrap="square" lIns="25400" tIns="25400" rIns="25400" bIns="25400" rtlCol="0" anchor="t">
            <a:normAutofit/>
          </a:bodyPr>
          <a:lstStyle/>
          <a:p>
            <a:pPr algn="l" indent="0" marL="0">
              <a:lnSpc>
                <a:spcPct val="106667"/>
              </a:lnSpc>
              <a:buNone/>
            </a:pPr>
            <a:r>
              <a:rPr lang="en-US" sz="3000" b="1" spc="-45" kern="0" dirty="0">
                <a:solidFill>
                  <a:srgbClr val="1D1F20"/>
                </a:solidFill>
                <a:latin typeface="Arial" pitchFamily="34" charset="0"/>
                <a:ea typeface="Arial" pitchFamily="34" charset="-122"/>
                <a:cs typeface="Arial" pitchFamily="34" charset="-120"/>
              </a:rPr>
              <a:t>A · Full onboarding</a:t>
            </a:r>
            <a:endParaRPr lang="en-US" sz="3000" dirty="0"/>
          </a:p>
        </p:txBody>
      </p:sp>
      <p:sp>
        <p:nvSpPr>
          <p:cNvPr id="6" name="Text 4"/>
          <p:cNvSpPr/>
          <p:nvPr/>
        </p:nvSpPr>
        <p:spPr>
          <a:xfrm>
            <a:off x="1143000" y="4156770"/>
            <a:ext cx="8005572" cy="68193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1D1F20"/>
                </a:solidFill>
                <a:latin typeface="Arial" pitchFamily="34" charset="0"/>
                <a:ea typeface="Arial" pitchFamily="34" charset="-122"/>
                <a:cs typeface="Arial" pitchFamily="34" charset="-120"/>
              </a:rPr>
              <a:t>Create the agency, seed departments, set SLA targets, load the policy corpus, create the first admin.</a:t>
            </a:r>
            <a:endParaRPr lang="en-US" sz="2100" dirty="0"/>
          </a:p>
        </p:txBody>
      </p:sp>
      <p:sp>
        <p:nvSpPr>
          <p:cNvPr id="7" name="Text 5"/>
          <p:cNvSpPr/>
          <p:nvPr/>
        </p:nvSpPr>
        <p:spPr>
          <a:xfrm>
            <a:off x="9372600" y="3162449"/>
            <a:ext cx="8549640" cy="304800"/>
          </a:xfrm>
          <a:prstGeom prst="rect">
            <a:avLst/>
          </a:prstGeom>
          <a:noFill/>
          <a:ln/>
        </p:spPr>
        <p:txBody>
          <a:bodyPr wrap="square" lIns="25400" tIns="25400" rIns="25400" bIns="25400" rtlCol="0" anchor="t">
            <a:normAutofit/>
          </a:bodyPr>
          <a:lstStyle/>
          <a:p>
            <a:pPr algn="l" indent="0" marL="0">
              <a:lnSpc>
                <a:spcPct val="106667"/>
              </a:lnSpc>
              <a:buNone/>
            </a:pPr>
            <a:r>
              <a:rPr lang="en-US" sz="3000" b="1" spc="-45" kern="0" dirty="0">
                <a:solidFill>
                  <a:srgbClr val="1D1F20"/>
                </a:solidFill>
                <a:latin typeface="Arial" pitchFamily="34" charset="0"/>
                <a:ea typeface="Arial" pitchFamily="34" charset="-122"/>
                <a:cs typeface="Arial" pitchFamily="34" charset="-120"/>
              </a:rPr>
              <a:t>B · Classify with live tools</a:t>
            </a:r>
            <a:endParaRPr lang="en-US" sz="3000" dirty="0"/>
          </a:p>
        </p:txBody>
      </p:sp>
      <p:sp>
        <p:nvSpPr>
          <p:cNvPr id="8" name="Text 6"/>
          <p:cNvSpPr/>
          <p:nvPr/>
        </p:nvSpPr>
        <p:spPr>
          <a:xfrm>
            <a:off x="9372600" y="4156770"/>
            <a:ext cx="8005572" cy="68193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1D1F20"/>
                </a:solidFill>
                <a:latin typeface="Arial" pitchFamily="34" charset="0"/>
                <a:ea typeface="Arial" pitchFamily="34" charset="-122"/>
                <a:cs typeface="Arial" pitchFamily="34" charset="-120"/>
              </a:rPr>
              <a:t>The classifier calls the agency’s own tools mid-inference — grounded in live data, not just submitted text.</a:t>
            </a:r>
            <a:endParaRPr lang="en-US" sz="2100" dirty="0"/>
          </a:p>
        </p:txBody>
      </p:sp>
      <p:sp>
        <p:nvSpPr>
          <p:cNvPr id="9" name="Text 7"/>
          <p:cNvSpPr/>
          <p:nvPr/>
        </p:nvSpPr>
        <p:spPr>
          <a:xfrm>
            <a:off x="1143000" y="5448449"/>
            <a:ext cx="8549640" cy="304800"/>
          </a:xfrm>
          <a:prstGeom prst="rect">
            <a:avLst/>
          </a:prstGeom>
          <a:noFill/>
          <a:ln/>
        </p:spPr>
        <p:txBody>
          <a:bodyPr wrap="square" lIns="25400" tIns="25400" rIns="25400" bIns="25400" rtlCol="0" anchor="t">
            <a:normAutofit/>
          </a:bodyPr>
          <a:lstStyle/>
          <a:p>
            <a:pPr algn="l" indent="0" marL="0">
              <a:lnSpc>
                <a:spcPct val="106667"/>
              </a:lnSpc>
              <a:buNone/>
            </a:pPr>
            <a:r>
              <a:rPr lang="en-US" sz="3000" b="1" spc="-45" kern="0" dirty="0">
                <a:solidFill>
                  <a:srgbClr val="1D1F20"/>
                </a:solidFill>
                <a:latin typeface="Arial" pitchFamily="34" charset="0"/>
                <a:ea typeface="Arial" pitchFamily="34" charset="-122"/>
                <a:cs typeface="Arial" pitchFamily="34" charset="-120"/>
              </a:rPr>
              <a:t>A · Branding, near-free</a:t>
            </a:r>
            <a:endParaRPr lang="en-US" sz="3000" dirty="0"/>
          </a:p>
        </p:txBody>
      </p:sp>
      <p:sp>
        <p:nvSpPr>
          <p:cNvPr id="10" name="Text 8"/>
          <p:cNvSpPr/>
          <p:nvPr/>
        </p:nvSpPr>
        <p:spPr>
          <a:xfrm>
            <a:off x="1143000" y="6442770"/>
            <a:ext cx="8005572" cy="68193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1D1F20"/>
                </a:solidFill>
                <a:latin typeface="Arial" pitchFamily="34" charset="0"/>
                <a:ea typeface="Arial" pitchFamily="34" charset="-122"/>
                <a:cs typeface="Arial" pitchFamily="34" charset="-120"/>
              </a:rPr>
              <a:t>Per-agency theming reuses the two-seed-color generation already built for AIGRE itself.</a:t>
            </a:r>
            <a:endParaRPr lang="en-US" sz="2100" dirty="0"/>
          </a:p>
        </p:txBody>
      </p:sp>
      <p:sp>
        <p:nvSpPr>
          <p:cNvPr id="11" name="Text 9"/>
          <p:cNvSpPr/>
          <p:nvPr/>
        </p:nvSpPr>
        <p:spPr>
          <a:xfrm>
            <a:off x="9372600" y="5448449"/>
            <a:ext cx="8549640" cy="304800"/>
          </a:xfrm>
          <a:prstGeom prst="rect">
            <a:avLst/>
          </a:prstGeom>
          <a:noFill/>
          <a:ln/>
        </p:spPr>
        <p:txBody>
          <a:bodyPr wrap="square" lIns="25400" tIns="25400" rIns="25400" bIns="25400" rtlCol="0" anchor="t">
            <a:normAutofit/>
          </a:bodyPr>
          <a:lstStyle/>
          <a:p>
            <a:pPr algn="l" indent="0" marL="0">
              <a:lnSpc>
                <a:spcPct val="106667"/>
              </a:lnSpc>
              <a:buNone/>
            </a:pPr>
            <a:r>
              <a:rPr lang="en-US" sz="3000" b="1" spc="-45" kern="0" dirty="0">
                <a:solidFill>
                  <a:srgbClr val="1D1F20"/>
                </a:solidFill>
                <a:latin typeface="Arial" pitchFamily="34" charset="0"/>
                <a:ea typeface="Arial" pitchFamily="34" charset="-122"/>
                <a:cs typeface="Arial" pitchFamily="34" charset="-120"/>
              </a:rPr>
              <a:t>B · A deliberate boundary</a:t>
            </a:r>
            <a:endParaRPr lang="en-US" sz="3000" dirty="0"/>
          </a:p>
        </p:txBody>
      </p:sp>
      <p:sp>
        <p:nvSpPr>
          <p:cNvPr id="12" name="Text 10"/>
          <p:cNvSpPr/>
          <p:nvPr/>
        </p:nvSpPr>
        <p:spPr>
          <a:xfrm>
            <a:off x="9372600" y="6442770"/>
            <a:ext cx="8005572" cy="68193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1D1F20"/>
                </a:solidFill>
                <a:latin typeface="Arial" pitchFamily="34" charset="0"/>
                <a:ea typeface="Arial" pitchFamily="34" charset="-122"/>
                <a:cs typeface="Arial" pitchFamily="34" charset="-120"/>
              </a:rPr>
              <a:t>API keys, not employee login. Still excludes review and dashboard; dedupe is delegated to an agency tool.</a:t>
            </a:r>
            <a:endParaRPr lang="en-US" sz="2100" dirty="0"/>
          </a:p>
        </p:txBody>
      </p:sp>
      <p:sp>
        <p:nvSpPr>
          <p:cNvPr id="13" name="Text 11"/>
          <p:cNvSpPr/>
          <p:nvPr/>
        </p:nvSpPr>
        <p:spPr>
          <a:xfrm>
            <a:off x="1143000" y="7841159"/>
            <a:ext cx="2825814" cy="198090"/>
          </a:xfrm>
          <a:prstGeom prst="rect">
            <a:avLst/>
          </a:prstGeom>
          <a:noFill/>
          <a:ln/>
        </p:spPr>
        <p:txBody>
          <a:bodyPr wrap="square" lIns="25400" tIns="25400" rIns="25400" bIns="25400" rtlCol="0" anchor="t">
            <a:normAutofit/>
          </a:bodyPr>
          <a:lstStyle/>
          <a:p>
            <a:pPr algn="l" indent="0" marL="0">
              <a:lnSpc>
                <a:spcPct val="132857"/>
              </a:lnSpc>
              <a:buNone/>
            </a:pPr>
            <a:r>
              <a:rPr lang="en-US" sz="1800" b="1" spc="144" kern="0" dirty="0">
                <a:solidFill>
                  <a:srgbClr val="1D1F21">
                    <a:alpha val="55000"/>
                  </a:srgbClr>
                </a:solidFill>
                <a:latin typeface="Arial" pitchFamily="34" charset="0"/>
                <a:ea typeface="Arial" pitchFamily="34" charset="-122"/>
                <a:cs typeface="Arial" pitchFamily="34" charset="-120"/>
              </a:rPr>
              <a:t>MODEL A — FULL ADOPTION</a:t>
            </a:r>
            <a:endParaRPr lang="en-US" sz="1800" dirty="0"/>
          </a:p>
        </p:txBody>
      </p:sp>
      <p:sp>
        <p:nvSpPr>
          <p:cNvPr id="14" name="Text 12"/>
          <p:cNvSpPr/>
          <p:nvPr/>
        </p:nvSpPr>
        <p:spPr>
          <a:xfrm>
            <a:off x="14836229" y="7841159"/>
            <a:ext cx="2539648" cy="198090"/>
          </a:xfrm>
          <a:prstGeom prst="rect">
            <a:avLst/>
          </a:prstGeom>
          <a:noFill/>
          <a:ln/>
        </p:spPr>
        <p:txBody>
          <a:bodyPr wrap="square" lIns="25400" tIns="25400" rIns="25400" bIns="25400" rtlCol="0" anchor="t">
            <a:normAutofit/>
          </a:bodyPr>
          <a:lstStyle/>
          <a:p>
            <a:pPr algn="l" indent="0" marL="0">
              <a:lnSpc>
                <a:spcPct val="132857"/>
              </a:lnSpc>
              <a:buNone/>
            </a:pPr>
            <a:r>
              <a:rPr lang="en-US" sz="1800" b="1" spc="144" kern="0" dirty="0">
                <a:solidFill>
                  <a:srgbClr val="1D1F21">
                    <a:alpha val="55000"/>
                  </a:srgbClr>
                </a:solidFill>
                <a:latin typeface="Arial" pitchFamily="34" charset="0"/>
                <a:ea typeface="Arial" pitchFamily="34" charset="-122"/>
                <a:cs typeface="Arial" pitchFamily="34" charset="-120"/>
              </a:rPr>
              <a:t>MODEL B — BROWNFIELD</a:t>
            </a:r>
            <a:endParaRPr lang="en-US" sz="1800" dirty="0"/>
          </a:p>
        </p:txBody>
      </p:sp>
      <p:pic>
        <p:nvPicPr>
          <p:cNvPr id="15" name="Image 0" descr="preencoded.png">    </p:cNvPr>
          <p:cNvPicPr>
            <a:picLocks noChangeAspect="1"/>
          </p:cNvPicPr>
          <p:nvPr/>
        </p:nvPicPr>
        <p:blipFill>
          <a:blip r:embed="rId2"/>
          <a:stretch>
            <a:fillRect/>
          </a:stretch>
        </p:blipFill>
        <p:spPr>
          <a:xfrm>
            <a:off x="1143000" y="8755410"/>
            <a:ext cx="3156645" cy="1599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261"/>
            <a:ext cx="1937355" cy="198090"/>
          </a:xfrm>
          <a:prstGeom prst="rect">
            <a:avLst/>
          </a:prstGeom>
          <a:noFill/>
          <a:ln/>
        </p:spPr>
        <p:txBody>
          <a:bodyPr wrap="square" lIns="25400" tIns="25400" rIns="25400" bIns="25400" rtlCol="0" anchor="t">
            <a:normAutofit/>
          </a:bodyPr>
          <a:lstStyle/>
          <a:p>
            <a:pPr algn="l" indent="0" marL="0">
              <a:lnSpc>
                <a:spcPct val="132857"/>
              </a:lnSpc>
              <a:buNone/>
            </a:pPr>
            <a:r>
              <a:rPr lang="en-US" sz="1800" b="1" spc="144" kern="0" dirty="0">
                <a:solidFill>
                  <a:srgbClr val="5980A6"/>
                </a:solidFill>
                <a:latin typeface="Arial" pitchFamily="34" charset="0"/>
                <a:ea typeface="Arial" pitchFamily="34" charset="-122"/>
                <a:cs typeface="Arial" pitchFamily="34" charset="-120"/>
              </a:rPr>
              <a:t>02 · THE ROADMAP</a:t>
            </a:r>
            <a:endParaRPr lang="en-US" sz="1800" dirty="0"/>
          </a:p>
        </p:txBody>
      </p:sp>
      <p:sp>
        <p:nvSpPr>
          <p:cNvPr id="4" name="Text 2"/>
          <p:cNvSpPr/>
          <p:nvPr/>
        </p:nvSpPr>
        <p:spPr>
          <a:xfrm>
            <a:off x="1095524" y="1646039"/>
            <a:ext cx="17654424" cy="678210"/>
          </a:xfrm>
          <a:prstGeom prst="rect">
            <a:avLst/>
          </a:prstGeom>
          <a:noFill/>
          <a:ln/>
        </p:spPr>
        <p:txBody>
          <a:bodyPr wrap="square" lIns="25400" tIns="25400" rIns="25400" bIns="25400" rtlCol="0" anchor="t">
            <a:normAutofit/>
          </a:bodyPr>
          <a:lstStyle/>
          <a:p>
            <a:pPr algn="l" indent="0" marL="0">
              <a:lnSpc>
                <a:spcPct val="87273"/>
              </a:lnSpc>
              <a:buNone/>
            </a:pPr>
            <a:r>
              <a:rPr lang="en-US" sz="7200" b="1" dirty="0">
                <a:solidFill>
                  <a:srgbClr val="1D1F20"/>
                </a:solidFill>
                <a:latin typeface="Arial" pitchFamily="34" charset="0"/>
                <a:ea typeface="Arial" pitchFamily="34" charset="-122"/>
                <a:cs typeface="Arial" pitchFamily="34" charset="-120"/>
              </a:rPr>
              <a:t>What we’re not building yet</a:t>
            </a:r>
            <a:endParaRPr lang="en-US" sz="7200" dirty="0"/>
          </a:p>
        </p:txBody>
      </p:sp>
      <p:sp>
        <p:nvSpPr>
          <p:cNvPr id="5" name="Text 3"/>
          <p:cNvSpPr/>
          <p:nvPr/>
        </p:nvSpPr>
        <p:spPr>
          <a:xfrm>
            <a:off x="916305" y="3202335"/>
            <a:ext cx="11923395" cy="4836170"/>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No write-capable tools by default — write access is negotiated per agency</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No config UI for the adapter yet — only the mechanism is designed</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No database-per-tenant until an actual compliance requirement demands it</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Nothing started: no schema, no provisioning UI, no API keys, no MCP client wiring</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A design reference, ready to scope into real work when the demand is real</a:t>
            </a:r>
            <a:endParaRPr lang="en-US" sz="2550" dirty="0"/>
          </a:p>
        </p:txBody>
      </p:sp>
      <p:pic>
        <p:nvPicPr>
          <p:cNvPr id="6" name="Image 0" descr="preencoded.png">    </p:cNvPr>
          <p:cNvPicPr>
            <a:picLocks noChangeAspect="1"/>
          </p:cNvPicPr>
          <p:nvPr/>
        </p:nvPicPr>
        <p:blipFill>
          <a:blip r:embed="rId2"/>
          <a:stretch>
            <a:fillRect/>
          </a:stretch>
        </p:blipFill>
        <p:spPr>
          <a:xfrm>
            <a:off x="1143000" y="8755410"/>
            <a:ext cx="3156645" cy="15999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2026-08-14T19:36:47Z</dcterms:created>
  <dcterms:modified xsi:type="dcterms:W3CDTF">2026-08-14T19:36:47Z</dcterms:modified>
</cp:coreProperties>
</file>