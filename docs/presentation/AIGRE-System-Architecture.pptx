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716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Simplified from the full component diagram in docs/ARCHITECTURE.md. The "commit" and "classify" arrows into Postgres/LLM Providers represent every backend capability's traffic to them, not only the box each is drawn nearest to -- Dashboard's reads and Chat's retrieval/embedding calls travel the same two arrows. All shapes here are native and editable -- ungroup freely, recolor, or move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162800"/>
          </a:xfrm>
          <a:prstGeom prst="rect">
            <a:avLst/>
          </a:prstGeom>
          <a:solidFill>
            <a:srgbClr val="F5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0960"/>
            <a:ext cx="198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4243A"/>
                </a:solidFill>
                <a:latin typeface="Segoe UI"/>
              </a:rPr>
              <a:t>AIGRE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0480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17F2C"/>
                </a:solidFill>
                <a:latin typeface="Segoe UI"/>
              </a:rPr>
              <a:t>AI GRIEVANCE RESOLUTION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30480"/>
            <a:ext cx="50292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>
                <a:solidFill>
                  <a:srgbClr val="14243A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335280"/>
            <a:ext cx="5029200" cy="198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3F5A78"/>
                </a:solidFill>
                <a:latin typeface="Segoe UI"/>
              </a:rPr>
              <a:t>One Spring Boot application — intake through a human-approved decision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655320"/>
            <a:ext cx="11277600" cy="0"/>
          </a:xfrm>
          <a:prstGeom prst="line">
            <a:avLst/>
          </a:prstGeom>
          <a:ln w="9525">
            <a:solidFill>
              <a:srgbClr val="7C90A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371600"/>
            <a:ext cx="167640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14243A"/>
                </a:solidFill>
                <a:latin typeface="Segoe UI"/>
              </a:rPr>
              <a:t>Angular SPA</a:t>
            </a:r>
          </a:p>
          <a:p>
            <a:pPr algn="ctr"/>
            <a:r>
              <a:rPr sz="1000" b="0">
                <a:solidFill>
                  <a:srgbClr val="3F5A78"/>
                </a:solidFill>
                <a:latin typeface="Segoe UI"/>
              </a:rPr>
              <a:t>Citizen Portal &amp; Employee Dashboard</a:t>
            </a:r>
          </a:p>
          <a:p>
            <a:pPr algn="ctr"/>
            <a:r>
              <a:rPr sz="900" b="0">
                <a:solidFill>
                  <a:srgbClr val="7C90A5"/>
                </a:solidFill>
                <a:latin typeface="Segoe UI"/>
              </a:rPr>
              <a:t>submit · track · ask · manage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1676400" cy="1295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F5A7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400" b="1">
                <a:solidFill>
                  <a:srgbClr val="14243A"/>
                </a:solidFill>
                <a:latin typeface="Segoe UI"/>
              </a:rPr>
              <a:t>Monitored Inbox</a:t>
            </a:r>
          </a:p>
          <a:p>
            <a:pPr algn="ctr"/>
            <a:r>
              <a:rPr sz="1000" b="0">
                <a:solidFill>
                  <a:srgbClr val="3F5A78"/>
                </a:solidFill>
                <a:latin typeface="Segoe UI"/>
              </a:rPr>
              <a:t>Scheduled poll</a:t>
            </a:r>
          </a:p>
          <a:p>
            <a:pPr algn="ctr"/>
            <a:r>
              <a:rPr sz="900" b="0">
                <a:solidFill>
                  <a:srgbClr val="7C90A5"/>
                </a:solidFill>
                <a:latin typeface="Segoe UI"/>
              </a:rPr>
              <a:t>IMAP · unread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38400" y="1143000"/>
            <a:ext cx="6553200" cy="4724400"/>
          </a:xfrm>
          <a:prstGeom prst="roundRect">
            <a:avLst>
              <a:gd name="adj" fmla="val 3000"/>
            </a:avLst>
          </a:prstGeom>
          <a:noFill/>
          <a:ln w="31750">
            <a:solidFill>
              <a:srgbClr val="1B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1280" y="120396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3A57"/>
                </a:solidFill>
                <a:latin typeface="Segoe UI"/>
              </a:rPr>
              <a:t>AIGRE 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1280" y="1341120"/>
            <a:ext cx="5334000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Spring Boot (WebFlux) — one application, four capabilities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21280" y="1524000"/>
            <a:ext cx="6187440" cy="0"/>
          </a:xfrm>
          <a:prstGeom prst="line">
            <a:avLst/>
          </a:prstGeom>
          <a:ln w="12700">
            <a:solidFill>
              <a:srgbClr val="E4DC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628900" y="1767840"/>
            <a:ext cx="2971800" cy="167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14300" tIns="0" bIns="0" wrap="square"/>
          <a:lstStyle/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Intake</a:t>
            </a:r>
          </a:p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Duplicate check · SLA due-date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29300" y="1767840"/>
            <a:ext cx="2895600" cy="1676400"/>
          </a:xfrm>
          <a:prstGeom prst="roundRect">
            <a:avLst/>
          </a:prstGeom>
          <a:solidFill>
            <a:srgbClr val="F1DDB8"/>
          </a:solidFill>
          <a:ln w="25400">
            <a:solidFill>
              <a:srgbClr val="C17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14300" tIns="0" bIns="0" wrap="square"/>
          <a:lstStyle/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AI Classification</a:t>
            </a:r>
          </a:p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&amp; Human Review</a:t>
            </a:r>
          </a:p>
          <a:p>
            <a:pPr algn="l"/>
            <a:r>
              <a:rPr sz="1000" b="0">
                <a:solidFill>
                  <a:srgbClr val="1B3A57"/>
                </a:solidFill>
                <a:latin typeface="Segoe UI"/>
              </a:rPr>
              <a:t>Pauses when confidence is low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8900" y="3596640"/>
            <a:ext cx="2971800" cy="167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14300" tIns="0" bIns="0" wrap="square"/>
          <a:lstStyle/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Retrieval-Augmented Chat</a:t>
            </a:r>
          </a:p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Hybrid search + rerank, cited answers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29300" y="3596640"/>
            <a:ext cx="2895600" cy="1676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F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14300" tIns="0" bIns="0" wrap="square"/>
          <a:lstStyle/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Dashboard Queries</a:t>
            </a:r>
          </a:p>
          <a:p>
            <a:pPr algn="l"/>
            <a:r>
              <a:rPr sz="1400" b="1">
                <a:solidFill>
                  <a:srgbClr val="14243A"/>
                </a:solidFill>
                <a:latin typeface="Segoe UI"/>
              </a:rPr>
              <a:t>&amp; MCP Tools</a:t>
            </a:r>
          </a:p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Queues, Trends, status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6400" y="1371600"/>
            <a:ext cx="243840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500" b="1">
                <a:solidFill>
                  <a:srgbClr val="14243A"/>
                </a:solidFill>
                <a:latin typeface="Segoe UI"/>
              </a:rPr>
              <a:t>PostgreSQL 16</a:t>
            </a:r>
          </a:p>
          <a:p>
            <a:pPr algn="ctr"/>
            <a:r>
              <a:rPr sz="1000" b="0">
                <a:solidFill>
                  <a:srgbClr val="3F5A78"/>
                </a:solidFill>
                <a:latin typeface="Segoe UI"/>
              </a:rPr>
              <a:t>grievances · citizens · status</a:t>
            </a:r>
          </a:p>
          <a:p>
            <a:pPr algn="ctr"/>
            <a:r>
              <a:rPr sz="1300" b="1">
                <a:solidFill>
                  <a:srgbClr val="14243A"/>
                </a:solidFill>
                <a:latin typeface="Segoe UI"/>
              </a:rPr>
              <a:t>+ pgvector</a:t>
            </a:r>
          </a:p>
          <a:p>
            <a:pPr algn="ctr"/>
            <a:r>
              <a:rPr sz="1000" b="0">
                <a:solidFill>
                  <a:srgbClr val="3F5A78"/>
                </a:solidFill>
                <a:latin typeface="Segoe UI"/>
              </a:rPr>
              <a:t>policy corpus (vector search)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96400" y="3657600"/>
            <a:ext cx="2438400" cy="1676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6400" y="381000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4243A"/>
                </a:solidFill>
                <a:latin typeface="Segoe UI"/>
              </a:rPr>
              <a:t>LLM Providers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79280" y="4084320"/>
            <a:ext cx="990600" cy="365760"/>
          </a:xfrm>
          <a:prstGeom prst="roundRect">
            <a:avLst>
              <a:gd name="adj" fmla="val 15000"/>
            </a:avLst>
          </a:prstGeom>
          <a:solidFill>
            <a:srgbClr val="F5F1E7"/>
          </a:solidFill>
          <a:ln w="19050">
            <a:solidFill>
              <a:srgbClr val="3F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14243A"/>
                </a:solidFill>
                <a:latin typeface="Segoe UI"/>
              </a:rPr>
              <a:t>Ollama</a:t>
            </a:r>
          </a:p>
          <a:p>
            <a:pPr algn="ctr"/>
            <a:r>
              <a:rPr sz="800" b="0">
                <a:solidFill>
                  <a:srgbClr val="3F5A78"/>
                </a:solidFill>
                <a:latin typeface="Segoe UI"/>
              </a:rPr>
              <a:t>local · default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61320" y="4084320"/>
            <a:ext cx="990600" cy="365760"/>
          </a:xfrm>
          <a:prstGeom prst="roundRect">
            <a:avLst>
              <a:gd name="adj" fmla="val 15000"/>
            </a:avLst>
          </a:prstGeom>
          <a:solidFill>
            <a:srgbClr val="F5F1E7"/>
          </a:solidFill>
          <a:ln w="19050">
            <a:solidFill>
              <a:srgbClr val="3F5A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/>
            <a:r>
              <a:rPr sz="1000" b="1">
                <a:solidFill>
                  <a:srgbClr val="14243A"/>
                </a:solidFill>
                <a:latin typeface="Segoe UI"/>
              </a:rPr>
              <a:t>Anthropic</a:t>
            </a:r>
          </a:p>
          <a:p>
            <a:pPr algn="ctr"/>
            <a:r>
              <a:rPr sz="800" b="0">
                <a:solidFill>
                  <a:srgbClr val="3F5A78"/>
                </a:solidFill>
                <a:latin typeface="Segoe UI"/>
              </a:rPr>
              <a:t>Claude · swap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469880" y="4267200"/>
            <a:ext cx="91440" cy="0"/>
          </a:xfrm>
          <a:prstGeom prst="line">
            <a:avLst/>
          </a:prstGeom>
          <a:ln w="15875">
            <a:solidFill>
              <a:srgbClr val="7C90A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296400" y="4541520"/>
            <a:ext cx="2438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C90A5"/>
                </a:solidFill>
                <a:latin typeface="Segoe UI"/>
              </a:rPr>
              <a:t>one config line switches providers</a:t>
            </a:r>
          </a:p>
        </p:txBody>
      </p:sp>
      <p:sp>
        <p:nvSpPr>
          <p:cNvPr id="25" name="Freeform 24"/>
          <p:cNvSpPr/>
          <p:nvPr/>
        </p:nvSpPr>
        <p:spPr>
          <a:xfrm>
            <a:off x="2133600" y="205740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0" y="0"/>
                </a:moveTo>
                <a:lnTo>
                  <a:pt x="495300" y="22860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133600" y="3048000"/>
            <a:ext cx="495300" cy="914400"/>
          </a:xfrm>
          <a:custGeom>
            <a:avLst/>
            <a:gdLst/>
            <a:ahLst/>
            <a:cxnLst/>
            <a:rect l="l" t="t" r="r" b="b"/>
            <a:pathLst>
              <a:path w="495300" h="914400">
                <a:moveTo>
                  <a:pt x="0" y="914400"/>
                </a:moveTo>
                <a:lnTo>
                  <a:pt x="167640" y="914400"/>
                </a:lnTo>
                <a:lnTo>
                  <a:pt x="167640" y="0"/>
                </a:lnTo>
                <a:lnTo>
                  <a:pt x="495300" y="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0" y="3444240"/>
            <a:ext cx="457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3F5A78"/>
                </a:solidFill>
                <a:latin typeface="Segoe UI"/>
              </a:rPr>
              <a:t>poll</a:t>
            </a:r>
          </a:p>
        </p:txBody>
      </p:sp>
      <p:sp>
        <p:nvSpPr>
          <p:cNvPr id="28" name="Freeform 27"/>
          <p:cNvSpPr/>
          <p:nvPr/>
        </p:nvSpPr>
        <p:spPr>
          <a:xfrm>
            <a:off x="5600700" y="1684020"/>
            <a:ext cx="228600" cy="83820"/>
          </a:xfrm>
          <a:custGeom>
            <a:avLst/>
            <a:gdLst/>
            <a:ahLst/>
            <a:cxnLst/>
            <a:rect l="l" t="t" r="r" b="b"/>
            <a:pathLst>
              <a:path w="228600" h="83820">
                <a:moveTo>
                  <a:pt x="0" y="83820"/>
                </a:moveTo>
                <a:lnTo>
                  <a:pt x="0" y="0"/>
                </a:lnTo>
                <a:lnTo>
                  <a:pt x="228600" y="0"/>
                </a:lnTo>
                <a:lnTo>
                  <a:pt x="228600" y="8382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48300" y="1539240"/>
            <a:ext cx="6858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3F5A78"/>
                </a:solidFill>
                <a:latin typeface="Segoe UI"/>
              </a:rPr>
              <a:t>classify</a:t>
            </a:r>
          </a:p>
        </p:txBody>
      </p:sp>
      <p:sp>
        <p:nvSpPr>
          <p:cNvPr id="30" name="Freeform 29"/>
          <p:cNvSpPr/>
          <p:nvPr/>
        </p:nvSpPr>
        <p:spPr>
          <a:xfrm>
            <a:off x="7200900" y="3444240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0"/>
                </a:moveTo>
                <a:lnTo>
                  <a:pt x="0" y="137160"/>
                </a:lnTo>
              </a:path>
            </a:pathLst>
          </a:custGeom>
          <a:noFill/>
          <a:ln w="28575">
            <a:solidFill>
              <a:srgbClr val="C17F2C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77100" y="3444240"/>
            <a:ext cx="838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7F2C"/>
                </a:solidFill>
                <a:latin typeface="Segoe UI"/>
              </a:rPr>
              <a:t>pending review</a:t>
            </a:r>
          </a:p>
        </p:txBody>
      </p:sp>
      <p:sp>
        <p:nvSpPr>
          <p:cNvPr id="32" name="Freeform 31"/>
          <p:cNvSpPr/>
          <p:nvPr/>
        </p:nvSpPr>
        <p:spPr>
          <a:xfrm>
            <a:off x="7620000" y="3444240"/>
            <a:ext cx="0" cy="137160"/>
          </a:xfrm>
          <a:custGeom>
            <a:avLst/>
            <a:gdLst/>
            <a:ahLst/>
            <a:cxnLst/>
            <a:rect l="l" t="t" r="r" b="b"/>
            <a:pathLst>
              <a:path w="0" h="137160">
                <a:moveTo>
                  <a:pt x="0" y="13716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C17F2C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96200" y="3444240"/>
            <a:ext cx="6858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17F2C"/>
                </a:solidFill>
                <a:latin typeface="Segoe UI"/>
              </a:rPr>
              <a:t>resumes</a:t>
            </a:r>
          </a:p>
        </p:txBody>
      </p:sp>
      <p:sp>
        <p:nvSpPr>
          <p:cNvPr id="34" name="Freeform 33"/>
          <p:cNvSpPr/>
          <p:nvPr/>
        </p:nvSpPr>
        <p:spPr>
          <a:xfrm>
            <a:off x="8991600" y="2057400"/>
            <a:ext cx="304800" cy="228600"/>
          </a:xfrm>
          <a:custGeom>
            <a:avLst/>
            <a:gdLst/>
            <a:ahLst/>
            <a:cxnLst/>
            <a:rect l="l" t="t" r="r" b="b"/>
            <a:pathLst>
              <a:path w="304800" h="228600">
                <a:moveTo>
                  <a:pt x="0" y="228600"/>
                </a:moveTo>
                <a:lnTo>
                  <a:pt x="304800" y="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06840" y="2118360"/>
            <a:ext cx="457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commit</a:t>
            </a:r>
          </a:p>
        </p:txBody>
      </p:sp>
      <p:sp>
        <p:nvSpPr>
          <p:cNvPr id="36" name="Freeform 35"/>
          <p:cNvSpPr/>
          <p:nvPr/>
        </p:nvSpPr>
        <p:spPr>
          <a:xfrm>
            <a:off x="8991600" y="3771900"/>
            <a:ext cx="304800" cy="38100"/>
          </a:xfrm>
          <a:custGeom>
            <a:avLst/>
            <a:gdLst/>
            <a:ahLst/>
            <a:cxnLst/>
            <a:rect l="l" t="t" r="r" b="b"/>
            <a:pathLst>
              <a:path w="304800" h="38100">
                <a:moveTo>
                  <a:pt x="0" y="38100"/>
                </a:moveTo>
                <a:lnTo>
                  <a:pt x="152400" y="38100"/>
                </a:lnTo>
                <a:lnTo>
                  <a:pt x="152400" y="0"/>
                </a:lnTo>
                <a:lnTo>
                  <a:pt x="304800" y="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3840480"/>
            <a:ext cx="5334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3F5A78"/>
                </a:solidFill>
                <a:latin typeface="Segoe UI"/>
              </a:rPr>
              <a:t>classify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6705600"/>
            <a:ext cx="121920" cy="121920"/>
          </a:xfrm>
          <a:prstGeom prst="roundRect">
            <a:avLst>
              <a:gd name="adj" fmla="val 20000"/>
            </a:avLst>
          </a:prstGeom>
          <a:solidFill>
            <a:srgbClr val="F1DDB8"/>
          </a:solidFill>
          <a:ln w="19050">
            <a:solidFill>
              <a:srgbClr val="C17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690360"/>
            <a:ext cx="1828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3A57"/>
                </a:solidFill>
                <a:latin typeface="Segoe UI"/>
              </a:rPr>
              <a:t>AI pauses for a human decision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514600" y="6766560"/>
            <a:ext cx="274320" cy="0"/>
          </a:xfrm>
          <a:prstGeom prst="line">
            <a:avLst/>
          </a:prstGeom>
          <a:ln w="19050">
            <a:solidFill>
              <a:srgbClr val="7C90A5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865120" y="6690360"/>
            <a:ext cx="1219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3A57"/>
                </a:solidFill>
                <a:latin typeface="Segoe UI"/>
              </a:rPr>
              <a:t>Swappable provider</a:t>
            </a:r>
          </a:p>
        </p:txBody>
      </p:sp>
      <p:sp>
        <p:nvSpPr>
          <p:cNvPr id="42" name="Freeform 41"/>
          <p:cNvSpPr/>
          <p:nvPr/>
        </p:nvSpPr>
        <p:spPr>
          <a:xfrm>
            <a:off x="4114800" y="6766560"/>
            <a:ext cx="274320" cy="0"/>
          </a:xfrm>
          <a:custGeom>
            <a:avLst/>
            <a:gdLst/>
            <a:ahLst/>
            <a:cxnLst/>
            <a:rect l="l" t="t" r="r" b="b"/>
            <a:pathLst>
              <a:path w="274320" h="0">
                <a:moveTo>
                  <a:pt x="0" y="0"/>
                </a:moveTo>
                <a:lnTo>
                  <a:pt x="274320" y="0"/>
                </a:lnTo>
              </a:path>
            </a:pathLst>
          </a:custGeom>
          <a:noFill/>
          <a:ln w="25400">
            <a:solidFill>
              <a:srgbClr val="3F5A78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65320" y="6690360"/>
            <a:ext cx="1066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1B3A57"/>
                </a:solidFill>
                <a:latin typeface="Segoe UI"/>
              </a:rPr>
              <a:t>Data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